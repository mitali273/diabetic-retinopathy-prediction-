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56" r:id="rId2"/>
    <p:sldId id="259" r:id="rId3"/>
    <p:sldId id="277" r:id="rId4"/>
    <p:sldId id="261" r:id="rId5"/>
    <p:sldId id="266" r:id="rId6"/>
    <p:sldId id="258" r:id="rId7"/>
    <p:sldId id="268" r:id="rId8"/>
    <p:sldId id="264" r:id="rId9"/>
    <p:sldId id="269" r:id="rId10"/>
    <p:sldId id="270" r:id="rId11"/>
    <p:sldId id="265" r:id="rId12"/>
    <p:sldId id="274" r:id="rId13"/>
    <p:sldId id="275" r:id="rId14"/>
    <p:sldId id="276" r:id="rId15"/>
    <p:sldId id="279" r:id="rId16"/>
    <p:sldId id="278" r:id="rId17"/>
    <p:sldId id="280" r:id="rId18"/>
    <p:sldId id="281" r:id="rId19"/>
    <p:sldId id="273" r:id="rId20"/>
    <p:sldId id="282" r:id="rId21"/>
    <p:sldId id="283" r:id="rId22"/>
    <p:sldId id="284" r:id="rId23"/>
    <p:sldId id="285" r:id="rId24"/>
    <p:sldId id="287" r:id="rId25"/>
    <p:sldId id="286" r:id="rId26"/>
    <p:sldId id="289" r:id="rId27"/>
    <p:sldId id="290" r:id="rId28"/>
    <p:sldId id="291" r:id="rId29"/>
    <p:sldId id="292" r:id="rId30"/>
    <p:sldId id="294" r:id="rId31"/>
    <p:sldId id="288" r:id="rId32"/>
    <p:sldId id="293" r:id="rId3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D4BB"/>
    <a:srgbClr val="112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5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9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8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6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60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7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50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49" r:id="rId5"/>
    <p:sldLayoutId id="2147483750" r:id="rId6"/>
    <p:sldLayoutId id="2147483755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3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3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3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3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22.png" /><Relationship Id="rId4" Type="http://schemas.openxmlformats.org/officeDocument/2006/relationships/image" Target="../media/image21.png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3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3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3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3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3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323833FE-AFBD-5E41-CA60-478BF37FC4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r="-2" b="14092"/>
          <a:stretch>
            <a:fillRect/>
          </a:stretch>
        </p:blipFill>
        <p:spPr>
          <a:xfrm>
            <a:off x="20" y="-129386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2567" y="315225"/>
            <a:ext cx="11386866" cy="2001419"/>
          </a:xfrm>
        </p:spPr>
        <p:txBody>
          <a:bodyPr>
            <a:normAutofit/>
          </a:bodyPr>
          <a:lstStyle/>
          <a:p>
            <a:r>
              <a:rPr lang="en-GB" sz="4800" b="1">
                <a:latin typeface="Arial"/>
                <a:cs typeface="Arial"/>
              </a:rPr>
              <a:t>Diabetic Retinopathy Prediction In Patients </a:t>
            </a:r>
            <a:endParaRPr lang="en-US" sz="48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2567" y="2803585"/>
            <a:ext cx="11084942" cy="2488658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l"/>
            <a:r>
              <a:rPr lang="en-GB" sz="4000" i="1" u="sng">
                <a:solidFill>
                  <a:srgbClr val="FFFFFF"/>
                </a:solidFill>
              </a:rPr>
              <a:t>Group 5:</a:t>
            </a:r>
            <a:endParaRPr lang="en-US" sz="4000" i="1" u="sng"/>
          </a:p>
          <a:p>
            <a:pPr algn="l"/>
            <a:r>
              <a:rPr lang="en-GB" sz="4000" b="1" i="1">
                <a:latin typeface="Times New Roman"/>
                <a:ea typeface="Calibri"/>
                <a:cs typeface="Calibri"/>
              </a:rPr>
              <a:t>Madduri Spandhana </a:t>
            </a:r>
          </a:p>
          <a:p>
            <a:pPr algn="l"/>
            <a:r>
              <a:rPr lang="en-GB" sz="4000" b="1" i="1">
                <a:latin typeface="Times New Roman"/>
                <a:ea typeface="Calibri"/>
                <a:cs typeface="Calibri"/>
              </a:rPr>
              <a:t>Mitali Dinesh </a:t>
            </a:r>
            <a:r>
              <a:rPr lang="en-GB" sz="4000" b="1" i="1" err="1">
                <a:latin typeface="Times New Roman"/>
                <a:ea typeface="Calibri"/>
                <a:cs typeface="Calibri"/>
              </a:rPr>
              <a:t>Aswale</a:t>
            </a:r>
            <a:r>
              <a:rPr lang="en-GB" sz="4000" b="1" i="1">
                <a:latin typeface="Times New Roman"/>
                <a:ea typeface="Calibri"/>
                <a:cs typeface="Calibri"/>
              </a:rPr>
              <a:t> </a:t>
            </a:r>
          </a:p>
          <a:p>
            <a:pPr algn="l"/>
            <a:r>
              <a:rPr lang="en-GB" sz="4000" b="1" i="1">
                <a:latin typeface="Times New Roman"/>
                <a:ea typeface="Calibri"/>
                <a:cs typeface="Calibri"/>
              </a:rPr>
              <a:t>Afiya Mohammed Rafi</a:t>
            </a:r>
          </a:p>
          <a:p>
            <a:pPr algn="l"/>
            <a:r>
              <a:rPr lang="en-GB" sz="4000" b="1" i="1">
                <a:latin typeface="Times New Roman"/>
                <a:ea typeface="Calibri"/>
                <a:cs typeface="Calibri"/>
              </a:rPr>
              <a:t>Sai Madhav Aluru</a:t>
            </a:r>
          </a:p>
          <a:p>
            <a:pPr algn="l"/>
            <a:r>
              <a:rPr lang="en-GB" sz="4000" b="1" i="1">
                <a:latin typeface="Times New Roman"/>
                <a:ea typeface="Calibri"/>
                <a:cs typeface="Calibri"/>
              </a:rPr>
              <a:t>Ankur Singh</a:t>
            </a:r>
          </a:p>
          <a:p>
            <a:pPr algn="l"/>
            <a:r>
              <a:rPr lang="en-GB" sz="4000" b="1" i="1" err="1">
                <a:latin typeface="Times New Roman"/>
                <a:ea typeface="Calibri"/>
                <a:cs typeface="Calibri"/>
              </a:rPr>
              <a:t>Tukkayagari</a:t>
            </a:r>
            <a:r>
              <a:rPr lang="en-GB" sz="4000" b="1" i="1">
                <a:latin typeface="Times New Roman"/>
                <a:ea typeface="Calibri"/>
                <a:cs typeface="Calibri"/>
              </a:rPr>
              <a:t> Manasa</a:t>
            </a:r>
            <a:endParaRPr lang="en-GB" sz="4000" b="1" i="1" err="1">
              <a:latin typeface="Times New Roman"/>
              <a:cs typeface="Times New Roman"/>
            </a:endParaRPr>
          </a:p>
          <a:p>
            <a:pPr algn="l"/>
            <a:endParaRPr lang="en-GB" sz="16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sz="3200" b="1">
              <a:latin typeface="Times New Roman"/>
              <a:ea typeface="Calibri"/>
              <a:cs typeface="Calibri"/>
            </a:endParaRPr>
          </a:p>
          <a:p>
            <a:pPr algn="l"/>
            <a:endParaRPr lang="en-GB" sz="3200" b="1">
              <a:latin typeface="Times New Roman"/>
              <a:ea typeface="Calibri"/>
              <a:cs typeface="Calibri"/>
            </a:endParaRPr>
          </a:p>
          <a:p>
            <a:pPr algn="l"/>
            <a:endParaRPr lang="en-GB" sz="3200" b="1">
              <a:latin typeface="Times New Roman"/>
              <a:ea typeface="Calibri"/>
              <a:cs typeface="Calibri"/>
            </a:endParaRPr>
          </a:p>
          <a:p>
            <a:pPr algn="l"/>
            <a:endParaRPr lang="en-GB" sz="3200" b="1">
              <a:latin typeface="Times New Roman"/>
              <a:ea typeface="Calibri"/>
              <a:cs typeface="Calibri"/>
            </a:endParaRPr>
          </a:p>
          <a:p>
            <a:pPr algn="l"/>
            <a:endParaRPr lang="en-GB" sz="3200" b="1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65C93-A697-01D7-4A66-FA29CEFF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8D7E5-D16D-46A5-95CF-A4EE943D8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5F462C-CC9F-6DF8-74DE-E0C35FB6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310" y="1163595"/>
            <a:ext cx="9847690" cy="2346368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r"/>
            <a:r>
              <a:rPr lang="en-US" sz="8000" b="1" u="sng"/>
              <a:t>Objective:</a:t>
            </a:r>
            <a:endParaRPr lang="en-US" sz="8000" u="s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8DC2A-D9BD-FD14-3E64-DFF6D2E31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2310" y="3809999"/>
            <a:ext cx="9847688" cy="1985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To develop a binary classification model that accurately predicts the presence or absence of diabetic retinopathy in patients, using relevant medical and diagnostic data, enabling early detection and proactive treatment.</a:t>
            </a: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AEBA5-E956-47AC-8FA7-9C2AC7EE4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3016251" y="3016250"/>
            <a:ext cx="6858000" cy="825498"/>
          </a:xfrm>
          <a:custGeom>
            <a:avLst/>
            <a:gdLst>
              <a:gd name="connsiteX0" fmla="*/ 6742558 w 6858000"/>
              <a:gd name="connsiteY0" fmla="*/ 499736 h 825498"/>
              <a:gd name="connsiteX1" fmla="*/ 6812057 w 6858000"/>
              <a:gd name="connsiteY1" fmla="*/ 519211 h 825498"/>
              <a:gd name="connsiteX2" fmla="*/ 6776799 w 6858000"/>
              <a:gd name="connsiteY2" fmla="*/ 514438 h 825498"/>
              <a:gd name="connsiteX3" fmla="*/ 6625227 w 6858000"/>
              <a:gd name="connsiteY3" fmla="*/ 507591 h 825498"/>
              <a:gd name="connsiteX4" fmla="*/ 6662536 w 6858000"/>
              <a:gd name="connsiteY4" fmla="*/ 500498 h 825498"/>
              <a:gd name="connsiteX5" fmla="*/ 6645552 w 6858000"/>
              <a:gd name="connsiteY5" fmla="*/ 507580 h 825498"/>
              <a:gd name="connsiteX6" fmla="*/ 6513012 w 6858000"/>
              <a:gd name="connsiteY6" fmla="*/ 515082 h 825498"/>
              <a:gd name="connsiteX7" fmla="*/ 6546191 w 6858000"/>
              <a:gd name="connsiteY7" fmla="*/ 496279 h 825498"/>
              <a:gd name="connsiteX8" fmla="*/ 6521803 w 6858000"/>
              <a:gd name="connsiteY8" fmla="*/ 512615 h 825498"/>
              <a:gd name="connsiteX9" fmla="*/ 5935958 w 6858000"/>
              <a:gd name="connsiteY9" fmla="*/ 643374 h 825498"/>
              <a:gd name="connsiteX10" fmla="*/ 5993267 w 6858000"/>
              <a:gd name="connsiteY10" fmla="*/ 639757 h 825498"/>
              <a:gd name="connsiteX11" fmla="*/ 5964477 w 6858000"/>
              <a:gd name="connsiteY11" fmla="*/ 643207 h 825498"/>
              <a:gd name="connsiteX12" fmla="*/ 5883762 w 6858000"/>
              <a:gd name="connsiteY12" fmla="*/ 625473 h 825498"/>
              <a:gd name="connsiteX13" fmla="*/ 5935941 w 6858000"/>
              <a:gd name="connsiteY13" fmla="*/ 643372 h 825498"/>
              <a:gd name="connsiteX14" fmla="*/ 5909350 w 6858000"/>
              <a:gd name="connsiteY14" fmla="*/ 636492 h 825498"/>
              <a:gd name="connsiteX15" fmla="*/ 5507674 w 6858000"/>
              <a:gd name="connsiteY15" fmla="*/ 462345 h 825498"/>
              <a:gd name="connsiteX16" fmla="*/ 5531687 w 6858000"/>
              <a:gd name="connsiteY16" fmla="*/ 451730 h 825498"/>
              <a:gd name="connsiteX17" fmla="*/ 5520422 w 6858000"/>
              <a:gd name="connsiteY17" fmla="*/ 460125 h 825498"/>
              <a:gd name="connsiteX18" fmla="*/ 5308185 w 6858000"/>
              <a:gd name="connsiteY18" fmla="*/ 440592 h 825498"/>
              <a:gd name="connsiteX19" fmla="*/ 5312288 w 6858000"/>
              <a:gd name="connsiteY19" fmla="*/ 438109 h 825498"/>
              <a:gd name="connsiteX20" fmla="*/ 5317382 w 6858000"/>
              <a:gd name="connsiteY20" fmla="*/ 437516 h 825498"/>
              <a:gd name="connsiteX21" fmla="*/ 5087451 w 6858000"/>
              <a:gd name="connsiteY21" fmla="*/ 476086 h 825498"/>
              <a:gd name="connsiteX22" fmla="*/ 5133209 w 6858000"/>
              <a:gd name="connsiteY22" fmla="*/ 489108 h 825498"/>
              <a:gd name="connsiteX23" fmla="*/ 5102460 w 6858000"/>
              <a:gd name="connsiteY23" fmla="*/ 481967 h 825498"/>
              <a:gd name="connsiteX24" fmla="*/ 5041538 w 6858000"/>
              <a:gd name="connsiteY24" fmla="*/ 462968 h 825498"/>
              <a:gd name="connsiteX25" fmla="*/ 5064790 w 6858000"/>
              <a:gd name="connsiteY25" fmla="*/ 467587 h 825498"/>
              <a:gd name="connsiteX26" fmla="*/ 5070579 w 6858000"/>
              <a:gd name="connsiteY26" fmla="*/ 469759 h 825498"/>
              <a:gd name="connsiteX27" fmla="*/ 4957458 w 6858000"/>
              <a:gd name="connsiteY27" fmla="*/ 419205 h 825498"/>
              <a:gd name="connsiteX28" fmla="*/ 4961456 w 6858000"/>
              <a:gd name="connsiteY28" fmla="*/ 420481 h 825498"/>
              <a:gd name="connsiteX29" fmla="*/ 4987033 w 6858000"/>
              <a:gd name="connsiteY29" fmla="*/ 436483 h 825498"/>
              <a:gd name="connsiteX30" fmla="*/ 4863344 w 6858000"/>
              <a:gd name="connsiteY30" fmla="*/ 407230 h 825498"/>
              <a:gd name="connsiteX31" fmla="*/ 4889270 w 6858000"/>
              <a:gd name="connsiteY31" fmla="*/ 414757 h 825498"/>
              <a:gd name="connsiteX32" fmla="*/ 4867614 w 6858000"/>
              <a:gd name="connsiteY32" fmla="*/ 409980 h 825498"/>
              <a:gd name="connsiteX33" fmla="*/ 4866598 w 6858000"/>
              <a:gd name="connsiteY33" fmla="*/ 409326 h 825498"/>
              <a:gd name="connsiteX34" fmla="*/ 3962162 w 6858000"/>
              <a:gd name="connsiteY34" fmla="*/ 411409 h 825498"/>
              <a:gd name="connsiteX35" fmla="*/ 4043830 w 6858000"/>
              <a:gd name="connsiteY35" fmla="*/ 395719 h 825498"/>
              <a:gd name="connsiteX36" fmla="*/ 4002410 w 6858000"/>
              <a:gd name="connsiteY36" fmla="*/ 409019 h 825498"/>
              <a:gd name="connsiteX37" fmla="*/ 2848821 w 6858000"/>
              <a:gd name="connsiteY37" fmla="*/ 455907 h 825498"/>
              <a:gd name="connsiteX38" fmla="*/ 2897785 w 6858000"/>
              <a:gd name="connsiteY38" fmla="*/ 440313 h 825498"/>
              <a:gd name="connsiteX39" fmla="*/ 2903542 w 6858000"/>
              <a:gd name="connsiteY39" fmla="*/ 439285 h 825498"/>
              <a:gd name="connsiteX40" fmla="*/ 2785442 w 6858000"/>
              <a:gd name="connsiteY40" fmla="*/ 506948 h 825498"/>
              <a:gd name="connsiteX41" fmla="*/ 2811779 w 6858000"/>
              <a:gd name="connsiteY41" fmla="*/ 496871 h 825498"/>
              <a:gd name="connsiteX42" fmla="*/ 2793022 w 6858000"/>
              <a:gd name="connsiteY42" fmla="*/ 506520 h 825498"/>
              <a:gd name="connsiteX43" fmla="*/ 2745376 w 6858000"/>
              <a:gd name="connsiteY43" fmla="*/ 501455 h 825498"/>
              <a:gd name="connsiteX44" fmla="*/ 2778004 w 6858000"/>
              <a:gd name="connsiteY44" fmla="*/ 507369 h 825498"/>
              <a:gd name="connsiteX45" fmla="*/ 2770757 w 6858000"/>
              <a:gd name="connsiteY45" fmla="*/ 507779 h 825498"/>
              <a:gd name="connsiteX46" fmla="*/ 2463020 w 6858000"/>
              <a:gd name="connsiteY46" fmla="*/ 387977 h 825498"/>
              <a:gd name="connsiteX47" fmla="*/ 2518249 w 6858000"/>
              <a:gd name="connsiteY47" fmla="*/ 379338 h 825498"/>
              <a:gd name="connsiteX48" fmla="*/ 2490551 w 6858000"/>
              <a:gd name="connsiteY48" fmla="*/ 385915 h 825498"/>
              <a:gd name="connsiteX49" fmla="*/ 1933219 w 6858000"/>
              <a:gd name="connsiteY49" fmla="*/ 188445 h 825498"/>
              <a:gd name="connsiteX50" fmla="*/ 1933220 w 6858000"/>
              <a:gd name="connsiteY50" fmla="*/ 188446 h 825498"/>
              <a:gd name="connsiteX51" fmla="*/ 1953414 w 6858000"/>
              <a:gd name="connsiteY51" fmla="*/ 212451 h 825498"/>
              <a:gd name="connsiteX52" fmla="*/ 1978655 w 6858000"/>
              <a:gd name="connsiteY52" fmla="*/ 244478 h 825498"/>
              <a:gd name="connsiteX53" fmla="*/ 1953413 w 6858000"/>
              <a:gd name="connsiteY53" fmla="*/ 212450 h 825498"/>
              <a:gd name="connsiteX54" fmla="*/ 1842158 w 6858000"/>
              <a:gd name="connsiteY54" fmla="*/ 82524 h 825498"/>
              <a:gd name="connsiteX55" fmla="*/ 1842159 w 6858000"/>
              <a:gd name="connsiteY55" fmla="*/ 82525 h 825498"/>
              <a:gd name="connsiteX56" fmla="*/ 1916455 w 6858000"/>
              <a:gd name="connsiteY56" fmla="*/ 173016 h 825498"/>
              <a:gd name="connsiteX57" fmla="*/ 1916454 w 6858000"/>
              <a:gd name="connsiteY57" fmla="*/ 173015 h 825498"/>
              <a:gd name="connsiteX58" fmla="*/ 338916 w 6858000"/>
              <a:gd name="connsiteY58" fmla="*/ 12999 h 825498"/>
              <a:gd name="connsiteX59" fmla="*/ 395626 w 6858000"/>
              <a:gd name="connsiteY59" fmla="*/ 22894 h 825498"/>
              <a:gd name="connsiteX60" fmla="*/ 367327 w 6858000"/>
              <a:gd name="connsiteY60" fmla="*/ 19086 h 825498"/>
              <a:gd name="connsiteX61" fmla="*/ 153394 w 6858000"/>
              <a:gd name="connsiteY61" fmla="*/ 30626 h 825498"/>
              <a:gd name="connsiteX62" fmla="*/ 228906 w 6858000"/>
              <a:gd name="connsiteY62" fmla="*/ 38895 h 825498"/>
              <a:gd name="connsiteX63" fmla="*/ 177271 w 6858000"/>
              <a:gd name="connsiteY63" fmla="*/ 34439 h 825498"/>
              <a:gd name="connsiteX64" fmla="*/ 0 w 6858000"/>
              <a:gd name="connsiteY64" fmla="*/ 19988 h 825498"/>
              <a:gd name="connsiteX65" fmla="*/ 0 w 6858000"/>
              <a:gd name="connsiteY65" fmla="*/ 484096 h 825498"/>
              <a:gd name="connsiteX66" fmla="*/ 1 w 6858000"/>
              <a:gd name="connsiteY66" fmla="*/ 484096 h 825498"/>
              <a:gd name="connsiteX67" fmla="*/ 1 w 6858000"/>
              <a:gd name="connsiteY67" fmla="*/ 484097 h 825498"/>
              <a:gd name="connsiteX68" fmla="*/ 2817 w 6858000"/>
              <a:gd name="connsiteY68" fmla="*/ 482970 h 825498"/>
              <a:gd name="connsiteX69" fmla="*/ 63587 w 6858000"/>
              <a:gd name="connsiteY69" fmla="*/ 468871 h 825498"/>
              <a:gd name="connsiteX70" fmla="*/ 176939 w 6858000"/>
              <a:gd name="connsiteY70" fmla="*/ 454966 h 825498"/>
              <a:gd name="connsiteX71" fmla="*/ 200182 w 6858000"/>
              <a:gd name="connsiteY71" fmla="*/ 446963 h 825498"/>
              <a:gd name="connsiteX72" fmla="*/ 340774 w 6858000"/>
              <a:gd name="connsiteY72" fmla="*/ 409051 h 825498"/>
              <a:gd name="connsiteX73" fmla="*/ 453364 w 6858000"/>
              <a:gd name="connsiteY73" fmla="*/ 409816 h 825498"/>
              <a:gd name="connsiteX74" fmla="*/ 462126 w 6858000"/>
              <a:gd name="connsiteY74" fmla="*/ 411530 h 825498"/>
              <a:gd name="connsiteX75" fmla="*/ 505182 w 6858000"/>
              <a:gd name="connsiteY75" fmla="*/ 424102 h 825498"/>
              <a:gd name="connsiteX76" fmla="*/ 571860 w 6858000"/>
              <a:gd name="connsiteY76" fmla="*/ 420674 h 825498"/>
              <a:gd name="connsiteX77" fmla="*/ 617772 w 6858000"/>
              <a:gd name="connsiteY77" fmla="*/ 403337 h 825498"/>
              <a:gd name="connsiteX78" fmla="*/ 674923 w 6858000"/>
              <a:gd name="connsiteY78" fmla="*/ 402575 h 825498"/>
              <a:gd name="connsiteX79" fmla="*/ 740268 w 6858000"/>
              <a:gd name="connsiteY79" fmla="*/ 413434 h 825498"/>
              <a:gd name="connsiteX80" fmla="*/ 769605 w 6858000"/>
              <a:gd name="connsiteY80" fmla="*/ 415720 h 825498"/>
              <a:gd name="connsiteX81" fmla="*/ 850189 w 6858000"/>
              <a:gd name="connsiteY81" fmla="*/ 438200 h 825498"/>
              <a:gd name="connsiteX82" fmla="*/ 898198 w 6858000"/>
              <a:gd name="connsiteY82" fmla="*/ 432676 h 825498"/>
              <a:gd name="connsiteX83" fmla="*/ 945444 w 6858000"/>
              <a:gd name="connsiteY83" fmla="*/ 417816 h 825498"/>
              <a:gd name="connsiteX84" fmla="*/ 975733 w 6858000"/>
              <a:gd name="connsiteY84" fmla="*/ 403527 h 825498"/>
              <a:gd name="connsiteX85" fmla="*/ 1036887 w 6858000"/>
              <a:gd name="connsiteY85" fmla="*/ 393431 h 825498"/>
              <a:gd name="connsiteX86" fmla="*/ 1048125 w 6858000"/>
              <a:gd name="connsiteY86" fmla="*/ 394955 h 825498"/>
              <a:gd name="connsiteX87" fmla="*/ 1230633 w 6858000"/>
              <a:gd name="connsiteY87" fmla="*/ 407529 h 825498"/>
              <a:gd name="connsiteX88" fmla="*/ 1303024 w 6858000"/>
              <a:gd name="connsiteY88" fmla="*/ 427722 h 825498"/>
              <a:gd name="connsiteX89" fmla="*/ 1318456 w 6858000"/>
              <a:gd name="connsiteY89" fmla="*/ 430198 h 825498"/>
              <a:gd name="connsiteX90" fmla="*/ 1472575 w 6858000"/>
              <a:gd name="connsiteY90" fmla="*/ 452870 h 825498"/>
              <a:gd name="connsiteX91" fmla="*/ 1489720 w 6858000"/>
              <a:gd name="connsiteY91" fmla="*/ 453821 h 825498"/>
              <a:gd name="connsiteX92" fmla="*/ 1537537 w 6858000"/>
              <a:gd name="connsiteY92" fmla="*/ 449821 h 825498"/>
              <a:gd name="connsiteX93" fmla="*/ 1650317 w 6858000"/>
              <a:gd name="connsiteY93" fmla="*/ 490970 h 825498"/>
              <a:gd name="connsiteX94" fmla="*/ 1763287 w 6858000"/>
              <a:gd name="connsiteY94" fmla="*/ 505069 h 825498"/>
              <a:gd name="connsiteX95" fmla="*/ 1825393 w 6858000"/>
              <a:gd name="connsiteY95" fmla="*/ 504877 h 825498"/>
              <a:gd name="connsiteX96" fmla="*/ 1869780 w 6858000"/>
              <a:gd name="connsiteY96" fmla="*/ 514975 h 825498"/>
              <a:gd name="connsiteX97" fmla="*/ 1978940 w 6858000"/>
              <a:gd name="connsiteY97" fmla="*/ 545646 h 825498"/>
              <a:gd name="connsiteX98" fmla="*/ 2030378 w 6858000"/>
              <a:gd name="connsiteY98" fmla="*/ 550408 h 825498"/>
              <a:gd name="connsiteX99" fmla="*/ 2085054 w 6858000"/>
              <a:gd name="connsiteY99" fmla="*/ 560697 h 825498"/>
              <a:gd name="connsiteX100" fmla="*/ 2220312 w 6858000"/>
              <a:gd name="connsiteY100" fmla="*/ 606798 h 825498"/>
              <a:gd name="connsiteX101" fmla="*/ 2330806 w 6858000"/>
              <a:gd name="connsiteY101" fmla="*/ 604132 h 825498"/>
              <a:gd name="connsiteX102" fmla="*/ 2401292 w 6858000"/>
              <a:gd name="connsiteY102" fmla="*/ 604702 h 825498"/>
              <a:gd name="connsiteX103" fmla="*/ 2485307 w 6858000"/>
              <a:gd name="connsiteY103" fmla="*/ 619943 h 825498"/>
              <a:gd name="connsiteX104" fmla="*/ 2554079 w 6858000"/>
              <a:gd name="connsiteY104" fmla="*/ 642232 h 825498"/>
              <a:gd name="connsiteX105" fmla="*/ 2649143 w 6858000"/>
              <a:gd name="connsiteY105" fmla="*/ 659949 h 825498"/>
              <a:gd name="connsiteX106" fmla="*/ 2743826 w 6858000"/>
              <a:gd name="connsiteY106" fmla="*/ 694050 h 825498"/>
              <a:gd name="connsiteX107" fmla="*/ 2809930 w 6858000"/>
              <a:gd name="connsiteY107" fmla="*/ 720149 h 825498"/>
              <a:gd name="connsiteX108" fmla="*/ 2901943 w 6858000"/>
              <a:gd name="connsiteY108" fmla="*/ 743200 h 825498"/>
              <a:gd name="connsiteX109" fmla="*/ 3042728 w 6858000"/>
              <a:gd name="connsiteY109" fmla="*/ 759392 h 825498"/>
              <a:gd name="connsiteX110" fmla="*/ 3107500 w 6858000"/>
              <a:gd name="connsiteY110" fmla="*/ 761108 h 825498"/>
              <a:gd name="connsiteX111" fmla="*/ 3209993 w 6858000"/>
              <a:gd name="connsiteY111" fmla="*/ 799018 h 825498"/>
              <a:gd name="connsiteX112" fmla="*/ 3253809 w 6858000"/>
              <a:gd name="connsiteY112" fmla="*/ 817306 h 825498"/>
              <a:gd name="connsiteX113" fmla="*/ 3293244 w 6858000"/>
              <a:gd name="connsiteY113" fmla="*/ 802066 h 825498"/>
              <a:gd name="connsiteX114" fmla="*/ 3318771 w 6858000"/>
              <a:gd name="connsiteY114" fmla="*/ 784539 h 825498"/>
              <a:gd name="connsiteX115" fmla="*/ 3399546 w 6858000"/>
              <a:gd name="connsiteY115" fmla="*/ 799400 h 825498"/>
              <a:gd name="connsiteX116" fmla="*/ 3485275 w 6858000"/>
              <a:gd name="connsiteY116" fmla="*/ 815020 h 825498"/>
              <a:gd name="connsiteX117" fmla="*/ 3546617 w 6858000"/>
              <a:gd name="connsiteY117" fmla="*/ 825498 h 825498"/>
              <a:gd name="connsiteX118" fmla="*/ 3623201 w 6858000"/>
              <a:gd name="connsiteY118" fmla="*/ 817117 h 825498"/>
              <a:gd name="connsiteX119" fmla="*/ 3683591 w 6858000"/>
              <a:gd name="connsiteY119" fmla="*/ 813688 h 825498"/>
              <a:gd name="connsiteX120" fmla="*/ 3732361 w 6858000"/>
              <a:gd name="connsiteY120" fmla="*/ 803973 h 825498"/>
              <a:gd name="connsiteX121" fmla="*/ 3749506 w 6858000"/>
              <a:gd name="connsiteY121" fmla="*/ 798255 h 825498"/>
              <a:gd name="connsiteX122" fmla="*/ 3885338 w 6858000"/>
              <a:gd name="connsiteY122" fmla="*/ 753679 h 825498"/>
              <a:gd name="connsiteX123" fmla="*/ 4030503 w 6858000"/>
              <a:gd name="connsiteY123" fmla="*/ 718054 h 825498"/>
              <a:gd name="connsiteX124" fmla="*/ 4124614 w 6858000"/>
              <a:gd name="connsiteY124" fmla="*/ 740535 h 825498"/>
              <a:gd name="connsiteX125" fmla="*/ 4159667 w 6858000"/>
              <a:gd name="connsiteY125" fmla="*/ 740152 h 825498"/>
              <a:gd name="connsiteX126" fmla="*/ 4320837 w 6858000"/>
              <a:gd name="connsiteY126" fmla="*/ 745296 h 825498"/>
              <a:gd name="connsiteX127" fmla="*/ 4349222 w 6858000"/>
              <a:gd name="connsiteY127" fmla="*/ 750820 h 825498"/>
              <a:gd name="connsiteX128" fmla="*/ 4502579 w 6858000"/>
              <a:gd name="connsiteY128" fmla="*/ 728149 h 825498"/>
              <a:gd name="connsiteX129" fmla="*/ 4558207 w 6858000"/>
              <a:gd name="connsiteY129" fmla="*/ 724339 h 825498"/>
              <a:gd name="connsiteX130" fmla="*/ 4609452 w 6858000"/>
              <a:gd name="connsiteY130" fmla="*/ 718054 h 825498"/>
              <a:gd name="connsiteX131" fmla="*/ 4681083 w 6858000"/>
              <a:gd name="connsiteY131" fmla="*/ 716529 h 825498"/>
              <a:gd name="connsiteX132" fmla="*/ 4755381 w 6858000"/>
              <a:gd name="connsiteY132" fmla="*/ 719387 h 825498"/>
              <a:gd name="connsiteX133" fmla="*/ 4838250 w 6858000"/>
              <a:gd name="connsiteY133" fmla="*/ 718815 h 825498"/>
              <a:gd name="connsiteX134" fmla="*/ 4871019 w 6858000"/>
              <a:gd name="connsiteY134" fmla="*/ 713863 h 825498"/>
              <a:gd name="connsiteX135" fmla="*/ 4959602 w 6858000"/>
              <a:gd name="connsiteY135" fmla="*/ 717291 h 825498"/>
              <a:gd name="connsiteX136" fmla="*/ 5006086 w 6858000"/>
              <a:gd name="connsiteY136" fmla="*/ 711578 h 825498"/>
              <a:gd name="connsiteX137" fmla="*/ 5082670 w 6858000"/>
              <a:gd name="connsiteY137" fmla="*/ 710434 h 825498"/>
              <a:gd name="connsiteX138" fmla="*/ 5107627 w 6858000"/>
              <a:gd name="connsiteY138" fmla="*/ 709098 h 825498"/>
              <a:gd name="connsiteX139" fmla="*/ 5129916 w 6858000"/>
              <a:gd name="connsiteY139" fmla="*/ 708336 h 825498"/>
              <a:gd name="connsiteX140" fmla="*/ 5206308 w 6858000"/>
              <a:gd name="connsiteY140" fmla="*/ 723959 h 825498"/>
              <a:gd name="connsiteX141" fmla="*/ 5274129 w 6858000"/>
              <a:gd name="connsiteY141" fmla="*/ 724911 h 825498"/>
              <a:gd name="connsiteX142" fmla="*/ 5393005 w 6858000"/>
              <a:gd name="connsiteY142" fmla="*/ 737485 h 825498"/>
              <a:gd name="connsiteX143" fmla="*/ 5419295 w 6858000"/>
              <a:gd name="connsiteY143" fmla="*/ 733103 h 825498"/>
              <a:gd name="connsiteX144" fmla="*/ 5501594 w 6858000"/>
              <a:gd name="connsiteY144" fmla="*/ 731389 h 825498"/>
              <a:gd name="connsiteX145" fmla="*/ 5548460 w 6858000"/>
              <a:gd name="connsiteY145" fmla="*/ 730056 h 825498"/>
              <a:gd name="connsiteX146" fmla="*/ 5606372 w 6858000"/>
              <a:gd name="connsiteY146" fmla="*/ 739199 h 825498"/>
              <a:gd name="connsiteX147" fmla="*/ 5706959 w 6858000"/>
              <a:gd name="connsiteY147" fmla="*/ 758630 h 825498"/>
              <a:gd name="connsiteX148" fmla="*/ 5733440 w 6858000"/>
              <a:gd name="connsiteY148" fmla="*/ 761678 h 825498"/>
              <a:gd name="connsiteX149" fmla="*/ 5781830 w 6858000"/>
              <a:gd name="connsiteY149" fmla="*/ 771015 h 825498"/>
              <a:gd name="connsiteX150" fmla="*/ 5790592 w 6858000"/>
              <a:gd name="connsiteY150" fmla="*/ 772730 h 825498"/>
              <a:gd name="connsiteX151" fmla="*/ 5864318 w 6858000"/>
              <a:gd name="connsiteY151" fmla="*/ 796351 h 825498"/>
              <a:gd name="connsiteX152" fmla="*/ 5902610 w 6858000"/>
              <a:gd name="connsiteY152" fmla="*/ 798255 h 825498"/>
              <a:gd name="connsiteX153" fmla="*/ 6012723 w 6858000"/>
              <a:gd name="connsiteY153" fmla="*/ 798447 h 825498"/>
              <a:gd name="connsiteX154" fmla="*/ 6059397 w 6858000"/>
              <a:gd name="connsiteY154" fmla="*/ 794827 h 825498"/>
              <a:gd name="connsiteX155" fmla="*/ 6171605 w 6858000"/>
              <a:gd name="connsiteY155" fmla="*/ 780921 h 825498"/>
              <a:gd name="connsiteX156" fmla="*/ 6242093 w 6858000"/>
              <a:gd name="connsiteY156" fmla="*/ 774063 h 825498"/>
              <a:gd name="connsiteX157" fmla="*/ 6323058 w 6858000"/>
              <a:gd name="connsiteY157" fmla="*/ 763202 h 825498"/>
              <a:gd name="connsiteX158" fmla="*/ 6415833 w 6858000"/>
              <a:gd name="connsiteY158" fmla="*/ 756344 h 825498"/>
              <a:gd name="connsiteX159" fmla="*/ 6584812 w 6858000"/>
              <a:gd name="connsiteY159" fmla="*/ 735580 h 825498"/>
              <a:gd name="connsiteX160" fmla="*/ 6748458 w 6858000"/>
              <a:gd name="connsiteY160" fmla="*/ 714053 h 825498"/>
              <a:gd name="connsiteX161" fmla="*/ 6815516 w 6858000"/>
              <a:gd name="connsiteY161" fmla="*/ 695002 h 825498"/>
              <a:gd name="connsiteX162" fmla="*/ 6858000 w 6858000"/>
              <a:gd name="connsiteY162" fmla="*/ 685303 h 825498"/>
              <a:gd name="connsiteX163" fmla="*/ 6858000 w 6858000"/>
              <a:gd name="connsiteY163" fmla="*/ 0 h 825498"/>
              <a:gd name="connsiteX164" fmla="*/ 1687324 w 6858000"/>
              <a:gd name="connsiteY164" fmla="*/ 0 h 825498"/>
              <a:gd name="connsiteX165" fmla="*/ 1 w 6858000"/>
              <a:gd name="connsiteY165" fmla="*/ 0 h 825498"/>
              <a:gd name="connsiteX166" fmla="*/ 1 w 6858000"/>
              <a:gd name="connsiteY166" fmla="*/ 19988 h 82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6858000" h="825498">
                <a:moveTo>
                  <a:pt x="6742558" y="499736"/>
                </a:moveTo>
                <a:lnTo>
                  <a:pt x="6812057" y="519211"/>
                </a:lnTo>
                <a:lnTo>
                  <a:pt x="6776799" y="514438"/>
                </a:lnTo>
                <a:close/>
                <a:moveTo>
                  <a:pt x="6625227" y="507591"/>
                </a:moveTo>
                <a:lnTo>
                  <a:pt x="6662536" y="500498"/>
                </a:lnTo>
                <a:lnTo>
                  <a:pt x="6645552" y="507580"/>
                </a:lnTo>
                <a:close/>
                <a:moveTo>
                  <a:pt x="6513012" y="515082"/>
                </a:moveTo>
                <a:lnTo>
                  <a:pt x="6546191" y="496279"/>
                </a:lnTo>
                <a:lnTo>
                  <a:pt x="6521803" y="512615"/>
                </a:lnTo>
                <a:close/>
                <a:moveTo>
                  <a:pt x="5935958" y="643374"/>
                </a:moveTo>
                <a:lnTo>
                  <a:pt x="5993267" y="639757"/>
                </a:lnTo>
                <a:lnTo>
                  <a:pt x="5964477" y="643207"/>
                </a:lnTo>
                <a:close/>
                <a:moveTo>
                  <a:pt x="5883762" y="625473"/>
                </a:moveTo>
                <a:lnTo>
                  <a:pt x="5935941" y="643372"/>
                </a:lnTo>
                <a:lnTo>
                  <a:pt x="5909350" y="636492"/>
                </a:lnTo>
                <a:close/>
                <a:moveTo>
                  <a:pt x="5507674" y="462345"/>
                </a:moveTo>
                <a:lnTo>
                  <a:pt x="5531687" y="451730"/>
                </a:lnTo>
                <a:lnTo>
                  <a:pt x="5520422" y="460125"/>
                </a:lnTo>
                <a:close/>
                <a:moveTo>
                  <a:pt x="5308185" y="440592"/>
                </a:moveTo>
                <a:lnTo>
                  <a:pt x="5312288" y="438109"/>
                </a:lnTo>
                <a:lnTo>
                  <a:pt x="5317382" y="437516"/>
                </a:lnTo>
                <a:close/>
                <a:moveTo>
                  <a:pt x="5087451" y="476086"/>
                </a:moveTo>
                <a:lnTo>
                  <a:pt x="5133209" y="489108"/>
                </a:lnTo>
                <a:lnTo>
                  <a:pt x="5102460" y="481967"/>
                </a:lnTo>
                <a:close/>
                <a:moveTo>
                  <a:pt x="5041538" y="462968"/>
                </a:moveTo>
                <a:lnTo>
                  <a:pt x="5064790" y="467587"/>
                </a:lnTo>
                <a:lnTo>
                  <a:pt x="5070579" y="469759"/>
                </a:lnTo>
                <a:close/>
                <a:moveTo>
                  <a:pt x="4957458" y="419205"/>
                </a:moveTo>
                <a:lnTo>
                  <a:pt x="4961456" y="420481"/>
                </a:lnTo>
                <a:lnTo>
                  <a:pt x="4987033" y="436483"/>
                </a:lnTo>
                <a:close/>
                <a:moveTo>
                  <a:pt x="4863344" y="407230"/>
                </a:moveTo>
                <a:lnTo>
                  <a:pt x="4889270" y="414757"/>
                </a:lnTo>
                <a:lnTo>
                  <a:pt x="4867614" y="409980"/>
                </a:lnTo>
                <a:lnTo>
                  <a:pt x="4866598" y="409326"/>
                </a:lnTo>
                <a:close/>
                <a:moveTo>
                  <a:pt x="3962162" y="411409"/>
                </a:moveTo>
                <a:lnTo>
                  <a:pt x="4043830" y="395719"/>
                </a:lnTo>
                <a:lnTo>
                  <a:pt x="4002410" y="409019"/>
                </a:lnTo>
                <a:close/>
                <a:moveTo>
                  <a:pt x="2848821" y="455907"/>
                </a:moveTo>
                <a:lnTo>
                  <a:pt x="2897785" y="440313"/>
                </a:lnTo>
                <a:lnTo>
                  <a:pt x="2903542" y="439285"/>
                </a:lnTo>
                <a:close/>
                <a:moveTo>
                  <a:pt x="2785442" y="506948"/>
                </a:moveTo>
                <a:lnTo>
                  <a:pt x="2811779" y="496871"/>
                </a:lnTo>
                <a:lnTo>
                  <a:pt x="2793022" y="506520"/>
                </a:lnTo>
                <a:close/>
                <a:moveTo>
                  <a:pt x="2745376" y="501455"/>
                </a:moveTo>
                <a:lnTo>
                  <a:pt x="2778004" y="507369"/>
                </a:lnTo>
                <a:lnTo>
                  <a:pt x="2770757" y="507779"/>
                </a:lnTo>
                <a:close/>
                <a:moveTo>
                  <a:pt x="2463020" y="387977"/>
                </a:moveTo>
                <a:lnTo>
                  <a:pt x="2518249" y="379338"/>
                </a:lnTo>
                <a:lnTo>
                  <a:pt x="2490551" y="385915"/>
                </a:lnTo>
                <a:close/>
                <a:moveTo>
                  <a:pt x="1933219" y="188445"/>
                </a:moveTo>
                <a:lnTo>
                  <a:pt x="1933220" y="188446"/>
                </a:lnTo>
                <a:cubicBezTo>
                  <a:pt x="1940460" y="196066"/>
                  <a:pt x="1949604" y="203307"/>
                  <a:pt x="1953414" y="212451"/>
                </a:cubicBezTo>
                <a:lnTo>
                  <a:pt x="1978655" y="244478"/>
                </a:lnTo>
                <a:cubicBezTo>
                  <a:pt x="1967939" y="237120"/>
                  <a:pt x="1959319" y="226833"/>
                  <a:pt x="1953413" y="212450"/>
                </a:cubicBezTo>
                <a:close/>
                <a:moveTo>
                  <a:pt x="1842158" y="82524"/>
                </a:moveTo>
                <a:lnTo>
                  <a:pt x="1842159" y="82525"/>
                </a:lnTo>
                <a:lnTo>
                  <a:pt x="1916455" y="173016"/>
                </a:lnTo>
                <a:lnTo>
                  <a:pt x="1916454" y="173015"/>
                </a:lnTo>
                <a:close/>
                <a:moveTo>
                  <a:pt x="338916" y="12999"/>
                </a:moveTo>
                <a:lnTo>
                  <a:pt x="395626" y="22894"/>
                </a:lnTo>
                <a:lnTo>
                  <a:pt x="367327" y="19086"/>
                </a:lnTo>
                <a:close/>
                <a:moveTo>
                  <a:pt x="153394" y="30626"/>
                </a:moveTo>
                <a:lnTo>
                  <a:pt x="228906" y="38895"/>
                </a:lnTo>
                <a:lnTo>
                  <a:pt x="177271" y="34439"/>
                </a:lnTo>
                <a:close/>
                <a:moveTo>
                  <a:pt x="0" y="19988"/>
                </a:moveTo>
                <a:lnTo>
                  <a:pt x="0" y="484096"/>
                </a:lnTo>
                <a:lnTo>
                  <a:pt x="1" y="484096"/>
                </a:lnTo>
                <a:lnTo>
                  <a:pt x="1" y="484097"/>
                </a:lnTo>
                <a:lnTo>
                  <a:pt x="2817" y="482970"/>
                </a:lnTo>
                <a:cubicBezTo>
                  <a:pt x="21486" y="474588"/>
                  <a:pt x="43012" y="471921"/>
                  <a:pt x="63587" y="468871"/>
                </a:cubicBezTo>
                <a:cubicBezTo>
                  <a:pt x="101308" y="463347"/>
                  <a:pt x="139219" y="459917"/>
                  <a:pt x="176939" y="454966"/>
                </a:cubicBezTo>
                <a:cubicBezTo>
                  <a:pt x="184941" y="453821"/>
                  <a:pt x="194085" y="451728"/>
                  <a:pt x="200182" y="446963"/>
                </a:cubicBezTo>
                <a:cubicBezTo>
                  <a:pt x="241901" y="414958"/>
                  <a:pt x="292579" y="406005"/>
                  <a:pt x="340774" y="409051"/>
                </a:cubicBezTo>
                <a:cubicBezTo>
                  <a:pt x="378686" y="411340"/>
                  <a:pt x="415835" y="413054"/>
                  <a:pt x="453364" y="409816"/>
                </a:cubicBezTo>
                <a:cubicBezTo>
                  <a:pt x="456222" y="409624"/>
                  <a:pt x="460032" y="410006"/>
                  <a:pt x="462126" y="411530"/>
                </a:cubicBezTo>
                <a:cubicBezTo>
                  <a:pt x="475081" y="421626"/>
                  <a:pt x="488607" y="422388"/>
                  <a:pt x="505182" y="424102"/>
                </a:cubicBezTo>
                <a:cubicBezTo>
                  <a:pt x="528615" y="426580"/>
                  <a:pt x="550141" y="424864"/>
                  <a:pt x="571860" y="420674"/>
                </a:cubicBezTo>
                <a:cubicBezTo>
                  <a:pt x="587672" y="417626"/>
                  <a:pt x="603673" y="411340"/>
                  <a:pt x="617772" y="403337"/>
                </a:cubicBezTo>
                <a:cubicBezTo>
                  <a:pt x="637392" y="392097"/>
                  <a:pt x="656255" y="387717"/>
                  <a:pt x="674923" y="402575"/>
                </a:cubicBezTo>
                <a:cubicBezTo>
                  <a:pt x="695116" y="418388"/>
                  <a:pt x="717977" y="412864"/>
                  <a:pt x="740268" y="413434"/>
                </a:cubicBezTo>
                <a:cubicBezTo>
                  <a:pt x="749982" y="413626"/>
                  <a:pt x="760270" y="413244"/>
                  <a:pt x="769605" y="415720"/>
                </a:cubicBezTo>
                <a:cubicBezTo>
                  <a:pt x="796655" y="422770"/>
                  <a:pt x="822756" y="433438"/>
                  <a:pt x="850189" y="438200"/>
                </a:cubicBezTo>
                <a:cubicBezTo>
                  <a:pt x="865430" y="440867"/>
                  <a:pt x="882384" y="436104"/>
                  <a:pt x="898198" y="432676"/>
                </a:cubicBezTo>
                <a:cubicBezTo>
                  <a:pt x="914200" y="429056"/>
                  <a:pt x="930011" y="423532"/>
                  <a:pt x="945444" y="417816"/>
                </a:cubicBezTo>
                <a:cubicBezTo>
                  <a:pt x="955920" y="414006"/>
                  <a:pt x="967350" y="410386"/>
                  <a:pt x="975733" y="403527"/>
                </a:cubicBezTo>
                <a:cubicBezTo>
                  <a:pt x="994785" y="387907"/>
                  <a:pt x="1014406" y="385239"/>
                  <a:pt x="1036887" y="393431"/>
                </a:cubicBezTo>
                <a:cubicBezTo>
                  <a:pt x="1040315" y="394765"/>
                  <a:pt x="1044315" y="394765"/>
                  <a:pt x="1048125" y="394955"/>
                </a:cubicBezTo>
                <a:cubicBezTo>
                  <a:pt x="1109091" y="398955"/>
                  <a:pt x="1170051" y="401433"/>
                  <a:pt x="1230633" y="407529"/>
                </a:cubicBezTo>
                <a:cubicBezTo>
                  <a:pt x="1255206" y="410006"/>
                  <a:pt x="1278829" y="420864"/>
                  <a:pt x="1303024" y="427722"/>
                </a:cubicBezTo>
                <a:cubicBezTo>
                  <a:pt x="1307978" y="429056"/>
                  <a:pt x="1313504" y="431152"/>
                  <a:pt x="1318456" y="430198"/>
                </a:cubicBezTo>
                <a:cubicBezTo>
                  <a:pt x="1372368" y="420674"/>
                  <a:pt x="1422854" y="434580"/>
                  <a:pt x="1472575" y="452870"/>
                </a:cubicBezTo>
                <a:cubicBezTo>
                  <a:pt x="1477717" y="454775"/>
                  <a:pt x="1484004" y="454203"/>
                  <a:pt x="1489720" y="453821"/>
                </a:cubicBezTo>
                <a:cubicBezTo>
                  <a:pt x="1505724" y="452489"/>
                  <a:pt x="1523059" y="445821"/>
                  <a:pt x="1537537" y="449821"/>
                </a:cubicBezTo>
                <a:cubicBezTo>
                  <a:pt x="1576019" y="460871"/>
                  <a:pt x="1614120" y="474206"/>
                  <a:pt x="1650317" y="490970"/>
                </a:cubicBezTo>
                <a:cubicBezTo>
                  <a:pt x="1687086" y="507925"/>
                  <a:pt x="1721185" y="522213"/>
                  <a:pt x="1763287" y="505069"/>
                </a:cubicBezTo>
                <a:cubicBezTo>
                  <a:pt x="1781194" y="497828"/>
                  <a:pt x="1804816" y="502973"/>
                  <a:pt x="1825393" y="504877"/>
                </a:cubicBezTo>
                <a:cubicBezTo>
                  <a:pt x="1840441" y="506402"/>
                  <a:pt x="1854920" y="514975"/>
                  <a:pt x="1869780" y="514975"/>
                </a:cubicBezTo>
                <a:cubicBezTo>
                  <a:pt x="1909408" y="514975"/>
                  <a:pt x="1944649" y="525071"/>
                  <a:pt x="1978940" y="545646"/>
                </a:cubicBezTo>
                <a:cubicBezTo>
                  <a:pt x="1992279" y="553646"/>
                  <a:pt x="2013043" y="548312"/>
                  <a:pt x="2030378" y="550408"/>
                </a:cubicBezTo>
                <a:cubicBezTo>
                  <a:pt x="2048668" y="552885"/>
                  <a:pt x="2067525" y="555170"/>
                  <a:pt x="2085054" y="560697"/>
                </a:cubicBezTo>
                <a:cubicBezTo>
                  <a:pt x="2130393" y="575175"/>
                  <a:pt x="2175163" y="591558"/>
                  <a:pt x="2220312" y="606798"/>
                </a:cubicBezTo>
                <a:cubicBezTo>
                  <a:pt x="2257459" y="619373"/>
                  <a:pt x="2294039" y="609466"/>
                  <a:pt x="2330806" y="604132"/>
                </a:cubicBezTo>
                <a:cubicBezTo>
                  <a:pt x="2353859" y="600702"/>
                  <a:pt x="2375383" y="592510"/>
                  <a:pt x="2401292" y="604702"/>
                </a:cubicBezTo>
                <a:cubicBezTo>
                  <a:pt x="2426059" y="616325"/>
                  <a:pt x="2457492" y="613656"/>
                  <a:pt x="2485307" y="619943"/>
                </a:cubicBezTo>
                <a:cubicBezTo>
                  <a:pt x="2508742" y="625277"/>
                  <a:pt x="2531409" y="633851"/>
                  <a:pt x="2554079" y="642232"/>
                </a:cubicBezTo>
                <a:cubicBezTo>
                  <a:pt x="2584942" y="653663"/>
                  <a:pt x="2615421" y="665663"/>
                  <a:pt x="2649143" y="659949"/>
                </a:cubicBezTo>
                <a:cubicBezTo>
                  <a:pt x="2687436" y="653471"/>
                  <a:pt x="2713723" y="677855"/>
                  <a:pt x="2743826" y="694050"/>
                </a:cubicBezTo>
                <a:cubicBezTo>
                  <a:pt x="2764590" y="705098"/>
                  <a:pt x="2787259" y="713291"/>
                  <a:pt x="2809930" y="720149"/>
                </a:cubicBezTo>
                <a:cubicBezTo>
                  <a:pt x="2840219" y="729103"/>
                  <a:pt x="2871462" y="734438"/>
                  <a:pt x="2901943" y="743200"/>
                </a:cubicBezTo>
                <a:cubicBezTo>
                  <a:pt x="2948047" y="756344"/>
                  <a:pt x="2994722" y="766632"/>
                  <a:pt x="3042728" y="759392"/>
                </a:cubicBezTo>
                <a:cubicBezTo>
                  <a:pt x="3064827" y="756154"/>
                  <a:pt x="3085403" y="756344"/>
                  <a:pt x="3107500" y="761108"/>
                </a:cubicBezTo>
                <a:cubicBezTo>
                  <a:pt x="3143695" y="768919"/>
                  <a:pt x="3180844" y="769871"/>
                  <a:pt x="3209993" y="799018"/>
                </a:cubicBezTo>
                <a:cubicBezTo>
                  <a:pt x="3220280" y="809306"/>
                  <a:pt x="3238758" y="811972"/>
                  <a:pt x="3253809" y="817306"/>
                </a:cubicBezTo>
                <a:cubicBezTo>
                  <a:pt x="3271145" y="823595"/>
                  <a:pt x="3283908" y="820355"/>
                  <a:pt x="3293244" y="802066"/>
                </a:cubicBezTo>
                <a:cubicBezTo>
                  <a:pt x="3297434" y="793875"/>
                  <a:pt x="3309437" y="785874"/>
                  <a:pt x="3318771" y="784539"/>
                </a:cubicBezTo>
                <a:cubicBezTo>
                  <a:pt x="3346776" y="780539"/>
                  <a:pt x="3372495" y="786445"/>
                  <a:pt x="3399546" y="799400"/>
                </a:cubicBezTo>
                <a:cubicBezTo>
                  <a:pt x="3424883" y="811593"/>
                  <a:pt x="3456508" y="810258"/>
                  <a:pt x="3485275" y="815020"/>
                </a:cubicBezTo>
                <a:cubicBezTo>
                  <a:pt x="3505657" y="818450"/>
                  <a:pt x="3526042" y="825498"/>
                  <a:pt x="3546617" y="825498"/>
                </a:cubicBezTo>
                <a:cubicBezTo>
                  <a:pt x="3572146" y="825498"/>
                  <a:pt x="3597482" y="819402"/>
                  <a:pt x="3623201" y="817117"/>
                </a:cubicBezTo>
                <a:cubicBezTo>
                  <a:pt x="3643204" y="815212"/>
                  <a:pt x="3663589" y="815975"/>
                  <a:pt x="3683591" y="813688"/>
                </a:cubicBezTo>
                <a:cubicBezTo>
                  <a:pt x="3699976" y="811972"/>
                  <a:pt x="3716168" y="807592"/>
                  <a:pt x="3732361" y="803973"/>
                </a:cubicBezTo>
                <a:cubicBezTo>
                  <a:pt x="3738267" y="802638"/>
                  <a:pt x="3744173" y="797493"/>
                  <a:pt x="3749506" y="798255"/>
                </a:cubicBezTo>
                <a:cubicBezTo>
                  <a:pt x="3802467" y="806448"/>
                  <a:pt x="3840569" y="769871"/>
                  <a:pt x="3885338" y="753679"/>
                </a:cubicBezTo>
                <a:cubicBezTo>
                  <a:pt x="3932394" y="736531"/>
                  <a:pt x="3977925" y="710243"/>
                  <a:pt x="4030503" y="718054"/>
                </a:cubicBezTo>
                <a:cubicBezTo>
                  <a:pt x="4062318" y="722815"/>
                  <a:pt x="4092989" y="733865"/>
                  <a:pt x="4124614" y="740535"/>
                </a:cubicBezTo>
                <a:cubicBezTo>
                  <a:pt x="4135854" y="742820"/>
                  <a:pt x="4148427" y="742438"/>
                  <a:pt x="4159667" y="740152"/>
                </a:cubicBezTo>
                <a:cubicBezTo>
                  <a:pt x="4213961" y="729673"/>
                  <a:pt x="4267493" y="728149"/>
                  <a:pt x="4320837" y="745296"/>
                </a:cubicBezTo>
                <a:cubicBezTo>
                  <a:pt x="4329979" y="748155"/>
                  <a:pt x="4339695" y="750820"/>
                  <a:pt x="4349222" y="750820"/>
                </a:cubicBezTo>
                <a:cubicBezTo>
                  <a:pt x="4401419" y="750820"/>
                  <a:pt x="4452665" y="746820"/>
                  <a:pt x="4502579" y="728149"/>
                </a:cubicBezTo>
                <a:cubicBezTo>
                  <a:pt x="4519343" y="721863"/>
                  <a:pt x="4539728" y="725863"/>
                  <a:pt x="4558207" y="724339"/>
                </a:cubicBezTo>
                <a:cubicBezTo>
                  <a:pt x="4575351" y="723007"/>
                  <a:pt x="4592878" y="722436"/>
                  <a:pt x="4609452" y="718054"/>
                </a:cubicBezTo>
                <a:cubicBezTo>
                  <a:pt x="4633647" y="711578"/>
                  <a:pt x="4656126" y="710815"/>
                  <a:pt x="4681083" y="716529"/>
                </a:cubicBezTo>
                <a:cubicBezTo>
                  <a:pt x="4704895" y="721863"/>
                  <a:pt x="4730614" y="719198"/>
                  <a:pt x="4755381" y="719387"/>
                </a:cubicBezTo>
                <a:cubicBezTo>
                  <a:pt x="4783004" y="719577"/>
                  <a:pt x="4810627" y="719767"/>
                  <a:pt x="4838250" y="718815"/>
                </a:cubicBezTo>
                <a:cubicBezTo>
                  <a:pt x="4849300" y="718435"/>
                  <a:pt x="4861873" y="710815"/>
                  <a:pt x="4871019" y="713863"/>
                </a:cubicBezTo>
                <a:cubicBezTo>
                  <a:pt x="4900546" y="724149"/>
                  <a:pt x="4930075" y="711767"/>
                  <a:pt x="4959602" y="717291"/>
                </a:cubicBezTo>
                <a:cubicBezTo>
                  <a:pt x="4974082" y="720149"/>
                  <a:pt x="4990465" y="712339"/>
                  <a:pt x="5006086" y="711578"/>
                </a:cubicBezTo>
                <a:cubicBezTo>
                  <a:pt x="5031614" y="710243"/>
                  <a:pt x="5057141" y="710815"/>
                  <a:pt x="5082670" y="710434"/>
                </a:cubicBezTo>
                <a:cubicBezTo>
                  <a:pt x="5091052" y="710243"/>
                  <a:pt x="5099245" y="709481"/>
                  <a:pt x="5107627" y="709098"/>
                </a:cubicBezTo>
                <a:cubicBezTo>
                  <a:pt x="5115057" y="708718"/>
                  <a:pt x="5122867" y="707004"/>
                  <a:pt x="5129916" y="708336"/>
                </a:cubicBezTo>
                <a:cubicBezTo>
                  <a:pt x="5155445" y="713101"/>
                  <a:pt x="5180591" y="720911"/>
                  <a:pt x="5206308" y="723959"/>
                </a:cubicBezTo>
                <a:cubicBezTo>
                  <a:pt x="5228597" y="726625"/>
                  <a:pt x="5251650" y="723007"/>
                  <a:pt x="5274129" y="724911"/>
                </a:cubicBezTo>
                <a:cubicBezTo>
                  <a:pt x="5313754" y="728149"/>
                  <a:pt x="5353379" y="733865"/>
                  <a:pt x="5393005" y="737485"/>
                </a:cubicBezTo>
                <a:cubicBezTo>
                  <a:pt x="5401579" y="738247"/>
                  <a:pt x="5410531" y="733483"/>
                  <a:pt x="5419295" y="733103"/>
                </a:cubicBezTo>
                <a:cubicBezTo>
                  <a:pt x="5446728" y="732151"/>
                  <a:pt x="5474161" y="731959"/>
                  <a:pt x="5501594" y="731389"/>
                </a:cubicBezTo>
                <a:cubicBezTo>
                  <a:pt x="5517215" y="731198"/>
                  <a:pt x="5533027" y="731769"/>
                  <a:pt x="5548460" y="730056"/>
                </a:cubicBezTo>
                <a:cubicBezTo>
                  <a:pt x="5568842" y="727769"/>
                  <a:pt x="5587321" y="724339"/>
                  <a:pt x="5606372" y="739199"/>
                </a:cubicBezTo>
                <a:cubicBezTo>
                  <a:pt x="5635711" y="762250"/>
                  <a:pt x="5673050" y="753296"/>
                  <a:pt x="5706959" y="758630"/>
                </a:cubicBezTo>
                <a:cubicBezTo>
                  <a:pt x="5715723" y="759964"/>
                  <a:pt x="5724678" y="760155"/>
                  <a:pt x="5733440" y="761678"/>
                </a:cubicBezTo>
                <a:cubicBezTo>
                  <a:pt x="5749634" y="764537"/>
                  <a:pt x="5765635" y="767774"/>
                  <a:pt x="5781830" y="771015"/>
                </a:cubicBezTo>
                <a:cubicBezTo>
                  <a:pt x="5784686" y="771585"/>
                  <a:pt x="5787924" y="771777"/>
                  <a:pt x="5790592" y="772730"/>
                </a:cubicBezTo>
                <a:cubicBezTo>
                  <a:pt x="5815169" y="780729"/>
                  <a:pt x="5839361" y="789873"/>
                  <a:pt x="5864318" y="796351"/>
                </a:cubicBezTo>
                <a:cubicBezTo>
                  <a:pt x="5876511" y="799591"/>
                  <a:pt x="5890037" y="799972"/>
                  <a:pt x="5902610" y="798255"/>
                </a:cubicBezTo>
                <a:cubicBezTo>
                  <a:pt x="5939377" y="793303"/>
                  <a:pt x="5975764" y="791207"/>
                  <a:pt x="6012723" y="798447"/>
                </a:cubicBezTo>
                <a:cubicBezTo>
                  <a:pt x="6027392" y="801304"/>
                  <a:pt x="6043776" y="796541"/>
                  <a:pt x="6059397" y="794827"/>
                </a:cubicBezTo>
                <a:cubicBezTo>
                  <a:pt x="6096736" y="790256"/>
                  <a:pt x="6134075" y="785301"/>
                  <a:pt x="6171605" y="780921"/>
                </a:cubicBezTo>
                <a:cubicBezTo>
                  <a:pt x="6195037" y="778254"/>
                  <a:pt x="6218660" y="776729"/>
                  <a:pt x="6242093" y="774063"/>
                </a:cubicBezTo>
                <a:cubicBezTo>
                  <a:pt x="6269144" y="770823"/>
                  <a:pt x="6296005" y="765870"/>
                  <a:pt x="6323058" y="763202"/>
                </a:cubicBezTo>
                <a:cubicBezTo>
                  <a:pt x="6353919" y="760155"/>
                  <a:pt x="6384972" y="759584"/>
                  <a:pt x="6415833" y="756344"/>
                </a:cubicBezTo>
                <a:cubicBezTo>
                  <a:pt x="6472225" y="750058"/>
                  <a:pt x="6528424" y="742628"/>
                  <a:pt x="6584812" y="735580"/>
                </a:cubicBezTo>
                <a:cubicBezTo>
                  <a:pt x="6639488" y="728721"/>
                  <a:pt x="6694164" y="722625"/>
                  <a:pt x="6748458" y="714053"/>
                </a:cubicBezTo>
                <a:cubicBezTo>
                  <a:pt x="6771319" y="710434"/>
                  <a:pt x="6793035" y="700526"/>
                  <a:pt x="6815516" y="695002"/>
                </a:cubicBezTo>
                <a:lnTo>
                  <a:pt x="6858000" y="685303"/>
                </a:lnTo>
                <a:lnTo>
                  <a:pt x="6858000" y="0"/>
                </a:lnTo>
                <a:lnTo>
                  <a:pt x="1687324" y="0"/>
                </a:lnTo>
                <a:lnTo>
                  <a:pt x="1" y="0"/>
                </a:lnTo>
                <a:lnTo>
                  <a:pt x="1" y="199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C07DA0-CB0A-497E-AB9D-58A8E672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F8F2DA3-DB2E-4D77-8A85-D337B4E00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B70A3-8305-4B4A-B7B1-6EF7CDBBC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264939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D52B0-EFBF-B34D-D0D3-22153D26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D78ECD-F503-0CFA-60AF-AFB45C55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F1B6A9-AD69-5F35-6725-E7E2E53E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310" y="157180"/>
            <a:ext cx="9847690" cy="1224935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5400" b="1" u="sng"/>
              <a:t>Problem Statement:</a:t>
            </a:r>
            <a:endParaRPr lang="en-US" sz="5400" u="s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C7E42-D48B-5EFA-003E-85ED31CDE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2310" y="1710905"/>
            <a:ext cx="9847688" cy="40850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Diabetic retinopathy is one of the major causes of blindness in working-age adults.</a:t>
            </a:r>
            <a:endParaRPr lang="en-US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It develops due to damage to blood vessels in the retina caused by prolonged high blood sugar.</a:t>
            </a:r>
            <a:endParaRPr lang="en-US">
              <a:solidFill>
                <a:schemeClr val="tx1"/>
              </a:solidFill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Often, symptoms appear late, so early detection is critical.</a:t>
            </a:r>
            <a:endParaRPr lang="en-US">
              <a:solidFill>
                <a:schemeClr val="tx1"/>
              </a:solidFill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Manual detection requires resources — we aim to create an automated and accessible prediction tool.</a:t>
            </a:r>
            <a:endParaRPr lang="en-US">
              <a:solidFill>
                <a:schemeClr val="tx1"/>
              </a:solidFill>
            </a:endParaRPr>
          </a:p>
          <a:p>
            <a:pPr algn="r"/>
            <a:r>
              <a:rPr lang="en-US" b="1">
                <a:solidFill>
                  <a:schemeClr val="tx1"/>
                </a:solidFill>
              </a:rPr>
              <a:t>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1064E26-A0CE-5A19-AB04-72233C1BD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3016251" y="3016250"/>
            <a:ext cx="6858000" cy="825498"/>
          </a:xfrm>
          <a:custGeom>
            <a:avLst/>
            <a:gdLst>
              <a:gd name="connsiteX0" fmla="*/ 6742558 w 6858000"/>
              <a:gd name="connsiteY0" fmla="*/ 499736 h 825498"/>
              <a:gd name="connsiteX1" fmla="*/ 6812057 w 6858000"/>
              <a:gd name="connsiteY1" fmla="*/ 519211 h 825498"/>
              <a:gd name="connsiteX2" fmla="*/ 6776799 w 6858000"/>
              <a:gd name="connsiteY2" fmla="*/ 514438 h 825498"/>
              <a:gd name="connsiteX3" fmla="*/ 6625227 w 6858000"/>
              <a:gd name="connsiteY3" fmla="*/ 507591 h 825498"/>
              <a:gd name="connsiteX4" fmla="*/ 6662536 w 6858000"/>
              <a:gd name="connsiteY4" fmla="*/ 500498 h 825498"/>
              <a:gd name="connsiteX5" fmla="*/ 6645552 w 6858000"/>
              <a:gd name="connsiteY5" fmla="*/ 507580 h 825498"/>
              <a:gd name="connsiteX6" fmla="*/ 6513012 w 6858000"/>
              <a:gd name="connsiteY6" fmla="*/ 515082 h 825498"/>
              <a:gd name="connsiteX7" fmla="*/ 6546191 w 6858000"/>
              <a:gd name="connsiteY7" fmla="*/ 496279 h 825498"/>
              <a:gd name="connsiteX8" fmla="*/ 6521803 w 6858000"/>
              <a:gd name="connsiteY8" fmla="*/ 512615 h 825498"/>
              <a:gd name="connsiteX9" fmla="*/ 5935958 w 6858000"/>
              <a:gd name="connsiteY9" fmla="*/ 643374 h 825498"/>
              <a:gd name="connsiteX10" fmla="*/ 5993267 w 6858000"/>
              <a:gd name="connsiteY10" fmla="*/ 639757 h 825498"/>
              <a:gd name="connsiteX11" fmla="*/ 5964477 w 6858000"/>
              <a:gd name="connsiteY11" fmla="*/ 643207 h 825498"/>
              <a:gd name="connsiteX12" fmla="*/ 5883762 w 6858000"/>
              <a:gd name="connsiteY12" fmla="*/ 625473 h 825498"/>
              <a:gd name="connsiteX13" fmla="*/ 5935941 w 6858000"/>
              <a:gd name="connsiteY13" fmla="*/ 643372 h 825498"/>
              <a:gd name="connsiteX14" fmla="*/ 5909350 w 6858000"/>
              <a:gd name="connsiteY14" fmla="*/ 636492 h 825498"/>
              <a:gd name="connsiteX15" fmla="*/ 5507674 w 6858000"/>
              <a:gd name="connsiteY15" fmla="*/ 462345 h 825498"/>
              <a:gd name="connsiteX16" fmla="*/ 5531687 w 6858000"/>
              <a:gd name="connsiteY16" fmla="*/ 451730 h 825498"/>
              <a:gd name="connsiteX17" fmla="*/ 5520422 w 6858000"/>
              <a:gd name="connsiteY17" fmla="*/ 460125 h 825498"/>
              <a:gd name="connsiteX18" fmla="*/ 5308185 w 6858000"/>
              <a:gd name="connsiteY18" fmla="*/ 440592 h 825498"/>
              <a:gd name="connsiteX19" fmla="*/ 5312288 w 6858000"/>
              <a:gd name="connsiteY19" fmla="*/ 438109 h 825498"/>
              <a:gd name="connsiteX20" fmla="*/ 5317382 w 6858000"/>
              <a:gd name="connsiteY20" fmla="*/ 437516 h 825498"/>
              <a:gd name="connsiteX21" fmla="*/ 5087451 w 6858000"/>
              <a:gd name="connsiteY21" fmla="*/ 476086 h 825498"/>
              <a:gd name="connsiteX22" fmla="*/ 5133209 w 6858000"/>
              <a:gd name="connsiteY22" fmla="*/ 489108 h 825498"/>
              <a:gd name="connsiteX23" fmla="*/ 5102460 w 6858000"/>
              <a:gd name="connsiteY23" fmla="*/ 481967 h 825498"/>
              <a:gd name="connsiteX24" fmla="*/ 5041538 w 6858000"/>
              <a:gd name="connsiteY24" fmla="*/ 462968 h 825498"/>
              <a:gd name="connsiteX25" fmla="*/ 5064790 w 6858000"/>
              <a:gd name="connsiteY25" fmla="*/ 467587 h 825498"/>
              <a:gd name="connsiteX26" fmla="*/ 5070579 w 6858000"/>
              <a:gd name="connsiteY26" fmla="*/ 469759 h 825498"/>
              <a:gd name="connsiteX27" fmla="*/ 4957458 w 6858000"/>
              <a:gd name="connsiteY27" fmla="*/ 419205 h 825498"/>
              <a:gd name="connsiteX28" fmla="*/ 4961456 w 6858000"/>
              <a:gd name="connsiteY28" fmla="*/ 420481 h 825498"/>
              <a:gd name="connsiteX29" fmla="*/ 4987033 w 6858000"/>
              <a:gd name="connsiteY29" fmla="*/ 436483 h 825498"/>
              <a:gd name="connsiteX30" fmla="*/ 4863344 w 6858000"/>
              <a:gd name="connsiteY30" fmla="*/ 407230 h 825498"/>
              <a:gd name="connsiteX31" fmla="*/ 4889270 w 6858000"/>
              <a:gd name="connsiteY31" fmla="*/ 414757 h 825498"/>
              <a:gd name="connsiteX32" fmla="*/ 4867614 w 6858000"/>
              <a:gd name="connsiteY32" fmla="*/ 409980 h 825498"/>
              <a:gd name="connsiteX33" fmla="*/ 4866598 w 6858000"/>
              <a:gd name="connsiteY33" fmla="*/ 409326 h 825498"/>
              <a:gd name="connsiteX34" fmla="*/ 3962162 w 6858000"/>
              <a:gd name="connsiteY34" fmla="*/ 411409 h 825498"/>
              <a:gd name="connsiteX35" fmla="*/ 4043830 w 6858000"/>
              <a:gd name="connsiteY35" fmla="*/ 395719 h 825498"/>
              <a:gd name="connsiteX36" fmla="*/ 4002410 w 6858000"/>
              <a:gd name="connsiteY36" fmla="*/ 409019 h 825498"/>
              <a:gd name="connsiteX37" fmla="*/ 2848821 w 6858000"/>
              <a:gd name="connsiteY37" fmla="*/ 455907 h 825498"/>
              <a:gd name="connsiteX38" fmla="*/ 2897785 w 6858000"/>
              <a:gd name="connsiteY38" fmla="*/ 440313 h 825498"/>
              <a:gd name="connsiteX39" fmla="*/ 2903542 w 6858000"/>
              <a:gd name="connsiteY39" fmla="*/ 439285 h 825498"/>
              <a:gd name="connsiteX40" fmla="*/ 2785442 w 6858000"/>
              <a:gd name="connsiteY40" fmla="*/ 506948 h 825498"/>
              <a:gd name="connsiteX41" fmla="*/ 2811779 w 6858000"/>
              <a:gd name="connsiteY41" fmla="*/ 496871 h 825498"/>
              <a:gd name="connsiteX42" fmla="*/ 2793022 w 6858000"/>
              <a:gd name="connsiteY42" fmla="*/ 506520 h 825498"/>
              <a:gd name="connsiteX43" fmla="*/ 2745376 w 6858000"/>
              <a:gd name="connsiteY43" fmla="*/ 501455 h 825498"/>
              <a:gd name="connsiteX44" fmla="*/ 2778004 w 6858000"/>
              <a:gd name="connsiteY44" fmla="*/ 507369 h 825498"/>
              <a:gd name="connsiteX45" fmla="*/ 2770757 w 6858000"/>
              <a:gd name="connsiteY45" fmla="*/ 507779 h 825498"/>
              <a:gd name="connsiteX46" fmla="*/ 2463020 w 6858000"/>
              <a:gd name="connsiteY46" fmla="*/ 387977 h 825498"/>
              <a:gd name="connsiteX47" fmla="*/ 2518249 w 6858000"/>
              <a:gd name="connsiteY47" fmla="*/ 379338 h 825498"/>
              <a:gd name="connsiteX48" fmla="*/ 2490551 w 6858000"/>
              <a:gd name="connsiteY48" fmla="*/ 385915 h 825498"/>
              <a:gd name="connsiteX49" fmla="*/ 1933219 w 6858000"/>
              <a:gd name="connsiteY49" fmla="*/ 188445 h 825498"/>
              <a:gd name="connsiteX50" fmla="*/ 1933220 w 6858000"/>
              <a:gd name="connsiteY50" fmla="*/ 188446 h 825498"/>
              <a:gd name="connsiteX51" fmla="*/ 1953414 w 6858000"/>
              <a:gd name="connsiteY51" fmla="*/ 212451 h 825498"/>
              <a:gd name="connsiteX52" fmla="*/ 1978655 w 6858000"/>
              <a:gd name="connsiteY52" fmla="*/ 244478 h 825498"/>
              <a:gd name="connsiteX53" fmla="*/ 1953413 w 6858000"/>
              <a:gd name="connsiteY53" fmla="*/ 212450 h 825498"/>
              <a:gd name="connsiteX54" fmla="*/ 1842158 w 6858000"/>
              <a:gd name="connsiteY54" fmla="*/ 82524 h 825498"/>
              <a:gd name="connsiteX55" fmla="*/ 1842159 w 6858000"/>
              <a:gd name="connsiteY55" fmla="*/ 82525 h 825498"/>
              <a:gd name="connsiteX56" fmla="*/ 1916455 w 6858000"/>
              <a:gd name="connsiteY56" fmla="*/ 173016 h 825498"/>
              <a:gd name="connsiteX57" fmla="*/ 1916454 w 6858000"/>
              <a:gd name="connsiteY57" fmla="*/ 173015 h 825498"/>
              <a:gd name="connsiteX58" fmla="*/ 338916 w 6858000"/>
              <a:gd name="connsiteY58" fmla="*/ 12999 h 825498"/>
              <a:gd name="connsiteX59" fmla="*/ 395626 w 6858000"/>
              <a:gd name="connsiteY59" fmla="*/ 22894 h 825498"/>
              <a:gd name="connsiteX60" fmla="*/ 367327 w 6858000"/>
              <a:gd name="connsiteY60" fmla="*/ 19086 h 825498"/>
              <a:gd name="connsiteX61" fmla="*/ 153394 w 6858000"/>
              <a:gd name="connsiteY61" fmla="*/ 30626 h 825498"/>
              <a:gd name="connsiteX62" fmla="*/ 228906 w 6858000"/>
              <a:gd name="connsiteY62" fmla="*/ 38895 h 825498"/>
              <a:gd name="connsiteX63" fmla="*/ 177271 w 6858000"/>
              <a:gd name="connsiteY63" fmla="*/ 34439 h 825498"/>
              <a:gd name="connsiteX64" fmla="*/ 0 w 6858000"/>
              <a:gd name="connsiteY64" fmla="*/ 19988 h 825498"/>
              <a:gd name="connsiteX65" fmla="*/ 0 w 6858000"/>
              <a:gd name="connsiteY65" fmla="*/ 484096 h 825498"/>
              <a:gd name="connsiteX66" fmla="*/ 1 w 6858000"/>
              <a:gd name="connsiteY66" fmla="*/ 484096 h 825498"/>
              <a:gd name="connsiteX67" fmla="*/ 1 w 6858000"/>
              <a:gd name="connsiteY67" fmla="*/ 484097 h 825498"/>
              <a:gd name="connsiteX68" fmla="*/ 2817 w 6858000"/>
              <a:gd name="connsiteY68" fmla="*/ 482970 h 825498"/>
              <a:gd name="connsiteX69" fmla="*/ 63587 w 6858000"/>
              <a:gd name="connsiteY69" fmla="*/ 468871 h 825498"/>
              <a:gd name="connsiteX70" fmla="*/ 176939 w 6858000"/>
              <a:gd name="connsiteY70" fmla="*/ 454966 h 825498"/>
              <a:gd name="connsiteX71" fmla="*/ 200182 w 6858000"/>
              <a:gd name="connsiteY71" fmla="*/ 446963 h 825498"/>
              <a:gd name="connsiteX72" fmla="*/ 340774 w 6858000"/>
              <a:gd name="connsiteY72" fmla="*/ 409051 h 825498"/>
              <a:gd name="connsiteX73" fmla="*/ 453364 w 6858000"/>
              <a:gd name="connsiteY73" fmla="*/ 409816 h 825498"/>
              <a:gd name="connsiteX74" fmla="*/ 462126 w 6858000"/>
              <a:gd name="connsiteY74" fmla="*/ 411530 h 825498"/>
              <a:gd name="connsiteX75" fmla="*/ 505182 w 6858000"/>
              <a:gd name="connsiteY75" fmla="*/ 424102 h 825498"/>
              <a:gd name="connsiteX76" fmla="*/ 571860 w 6858000"/>
              <a:gd name="connsiteY76" fmla="*/ 420674 h 825498"/>
              <a:gd name="connsiteX77" fmla="*/ 617772 w 6858000"/>
              <a:gd name="connsiteY77" fmla="*/ 403337 h 825498"/>
              <a:gd name="connsiteX78" fmla="*/ 674923 w 6858000"/>
              <a:gd name="connsiteY78" fmla="*/ 402575 h 825498"/>
              <a:gd name="connsiteX79" fmla="*/ 740268 w 6858000"/>
              <a:gd name="connsiteY79" fmla="*/ 413434 h 825498"/>
              <a:gd name="connsiteX80" fmla="*/ 769605 w 6858000"/>
              <a:gd name="connsiteY80" fmla="*/ 415720 h 825498"/>
              <a:gd name="connsiteX81" fmla="*/ 850189 w 6858000"/>
              <a:gd name="connsiteY81" fmla="*/ 438200 h 825498"/>
              <a:gd name="connsiteX82" fmla="*/ 898198 w 6858000"/>
              <a:gd name="connsiteY82" fmla="*/ 432676 h 825498"/>
              <a:gd name="connsiteX83" fmla="*/ 945444 w 6858000"/>
              <a:gd name="connsiteY83" fmla="*/ 417816 h 825498"/>
              <a:gd name="connsiteX84" fmla="*/ 975733 w 6858000"/>
              <a:gd name="connsiteY84" fmla="*/ 403527 h 825498"/>
              <a:gd name="connsiteX85" fmla="*/ 1036887 w 6858000"/>
              <a:gd name="connsiteY85" fmla="*/ 393431 h 825498"/>
              <a:gd name="connsiteX86" fmla="*/ 1048125 w 6858000"/>
              <a:gd name="connsiteY86" fmla="*/ 394955 h 825498"/>
              <a:gd name="connsiteX87" fmla="*/ 1230633 w 6858000"/>
              <a:gd name="connsiteY87" fmla="*/ 407529 h 825498"/>
              <a:gd name="connsiteX88" fmla="*/ 1303024 w 6858000"/>
              <a:gd name="connsiteY88" fmla="*/ 427722 h 825498"/>
              <a:gd name="connsiteX89" fmla="*/ 1318456 w 6858000"/>
              <a:gd name="connsiteY89" fmla="*/ 430198 h 825498"/>
              <a:gd name="connsiteX90" fmla="*/ 1472575 w 6858000"/>
              <a:gd name="connsiteY90" fmla="*/ 452870 h 825498"/>
              <a:gd name="connsiteX91" fmla="*/ 1489720 w 6858000"/>
              <a:gd name="connsiteY91" fmla="*/ 453821 h 825498"/>
              <a:gd name="connsiteX92" fmla="*/ 1537537 w 6858000"/>
              <a:gd name="connsiteY92" fmla="*/ 449821 h 825498"/>
              <a:gd name="connsiteX93" fmla="*/ 1650317 w 6858000"/>
              <a:gd name="connsiteY93" fmla="*/ 490970 h 825498"/>
              <a:gd name="connsiteX94" fmla="*/ 1763287 w 6858000"/>
              <a:gd name="connsiteY94" fmla="*/ 505069 h 825498"/>
              <a:gd name="connsiteX95" fmla="*/ 1825393 w 6858000"/>
              <a:gd name="connsiteY95" fmla="*/ 504877 h 825498"/>
              <a:gd name="connsiteX96" fmla="*/ 1869780 w 6858000"/>
              <a:gd name="connsiteY96" fmla="*/ 514975 h 825498"/>
              <a:gd name="connsiteX97" fmla="*/ 1978940 w 6858000"/>
              <a:gd name="connsiteY97" fmla="*/ 545646 h 825498"/>
              <a:gd name="connsiteX98" fmla="*/ 2030378 w 6858000"/>
              <a:gd name="connsiteY98" fmla="*/ 550408 h 825498"/>
              <a:gd name="connsiteX99" fmla="*/ 2085054 w 6858000"/>
              <a:gd name="connsiteY99" fmla="*/ 560697 h 825498"/>
              <a:gd name="connsiteX100" fmla="*/ 2220312 w 6858000"/>
              <a:gd name="connsiteY100" fmla="*/ 606798 h 825498"/>
              <a:gd name="connsiteX101" fmla="*/ 2330806 w 6858000"/>
              <a:gd name="connsiteY101" fmla="*/ 604132 h 825498"/>
              <a:gd name="connsiteX102" fmla="*/ 2401292 w 6858000"/>
              <a:gd name="connsiteY102" fmla="*/ 604702 h 825498"/>
              <a:gd name="connsiteX103" fmla="*/ 2485307 w 6858000"/>
              <a:gd name="connsiteY103" fmla="*/ 619943 h 825498"/>
              <a:gd name="connsiteX104" fmla="*/ 2554079 w 6858000"/>
              <a:gd name="connsiteY104" fmla="*/ 642232 h 825498"/>
              <a:gd name="connsiteX105" fmla="*/ 2649143 w 6858000"/>
              <a:gd name="connsiteY105" fmla="*/ 659949 h 825498"/>
              <a:gd name="connsiteX106" fmla="*/ 2743826 w 6858000"/>
              <a:gd name="connsiteY106" fmla="*/ 694050 h 825498"/>
              <a:gd name="connsiteX107" fmla="*/ 2809930 w 6858000"/>
              <a:gd name="connsiteY107" fmla="*/ 720149 h 825498"/>
              <a:gd name="connsiteX108" fmla="*/ 2901943 w 6858000"/>
              <a:gd name="connsiteY108" fmla="*/ 743200 h 825498"/>
              <a:gd name="connsiteX109" fmla="*/ 3042728 w 6858000"/>
              <a:gd name="connsiteY109" fmla="*/ 759392 h 825498"/>
              <a:gd name="connsiteX110" fmla="*/ 3107500 w 6858000"/>
              <a:gd name="connsiteY110" fmla="*/ 761108 h 825498"/>
              <a:gd name="connsiteX111" fmla="*/ 3209993 w 6858000"/>
              <a:gd name="connsiteY111" fmla="*/ 799018 h 825498"/>
              <a:gd name="connsiteX112" fmla="*/ 3253809 w 6858000"/>
              <a:gd name="connsiteY112" fmla="*/ 817306 h 825498"/>
              <a:gd name="connsiteX113" fmla="*/ 3293244 w 6858000"/>
              <a:gd name="connsiteY113" fmla="*/ 802066 h 825498"/>
              <a:gd name="connsiteX114" fmla="*/ 3318771 w 6858000"/>
              <a:gd name="connsiteY114" fmla="*/ 784539 h 825498"/>
              <a:gd name="connsiteX115" fmla="*/ 3399546 w 6858000"/>
              <a:gd name="connsiteY115" fmla="*/ 799400 h 825498"/>
              <a:gd name="connsiteX116" fmla="*/ 3485275 w 6858000"/>
              <a:gd name="connsiteY116" fmla="*/ 815020 h 825498"/>
              <a:gd name="connsiteX117" fmla="*/ 3546617 w 6858000"/>
              <a:gd name="connsiteY117" fmla="*/ 825498 h 825498"/>
              <a:gd name="connsiteX118" fmla="*/ 3623201 w 6858000"/>
              <a:gd name="connsiteY118" fmla="*/ 817117 h 825498"/>
              <a:gd name="connsiteX119" fmla="*/ 3683591 w 6858000"/>
              <a:gd name="connsiteY119" fmla="*/ 813688 h 825498"/>
              <a:gd name="connsiteX120" fmla="*/ 3732361 w 6858000"/>
              <a:gd name="connsiteY120" fmla="*/ 803973 h 825498"/>
              <a:gd name="connsiteX121" fmla="*/ 3749506 w 6858000"/>
              <a:gd name="connsiteY121" fmla="*/ 798255 h 825498"/>
              <a:gd name="connsiteX122" fmla="*/ 3885338 w 6858000"/>
              <a:gd name="connsiteY122" fmla="*/ 753679 h 825498"/>
              <a:gd name="connsiteX123" fmla="*/ 4030503 w 6858000"/>
              <a:gd name="connsiteY123" fmla="*/ 718054 h 825498"/>
              <a:gd name="connsiteX124" fmla="*/ 4124614 w 6858000"/>
              <a:gd name="connsiteY124" fmla="*/ 740535 h 825498"/>
              <a:gd name="connsiteX125" fmla="*/ 4159667 w 6858000"/>
              <a:gd name="connsiteY125" fmla="*/ 740152 h 825498"/>
              <a:gd name="connsiteX126" fmla="*/ 4320837 w 6858000"/>
              <a:gd name="connsiteY126" fmla="*/ 745296 h 825498"/>
              <a:gd name="connsiteX127" fmla="*/ 4349222 w 6858000"/>
              <a:gd name="connsiteY127" fmla="*/ 750820 h 825498"/>
              <a:gd name="connsiteX128" fmla="*/ 4502579 w 6858000"/>
              <a:gd name="connsiteY128" fmla="*/ 728149 h 825498"/>
              <a:gd name="connsiteX129" fmla="*/ 4558207 w 6858000"/>
              <a:gd name="connsiteY129" fmla="*/ 724339 h 825498"/>
              <a:gd name="connsiteX130" fmla="*/ 4609452 w 6858000"/>
              <a:gd name="connsiteY130" fmla="*/ 718054 h 825498"/>
              <a:gd name="connsiteX131" fmla="*/ 4681083 w 6858000"/>
              <a:gd name="connsiteY131" fmla="*/ 716529 h 825498"/>
              <a:gd name="connsiteX132" fmla="*/ 4755381 w 6858000"/>
              <a:gd name="connsiteY132" fmla="*/ 719387 h 825498"/>
              <a:gd name="connsiteX133" fmla="*/ 4838250 w 6858000"/>
              <a:gd name="connsiteY133" fmla="*/ 718815 h 825498"/>
              <a:gd name="connsiteX134" fmla="*/ 4871019 w 6858000"/>
              <a:gd name="connsiteY134" fmla="*/ 713863 h 825498"/>
              <a:gd name="connsiteX135" fmla="*/ 4959602 w 6858000"/>
              <a:gd name="connsiteY135" fmla="*/ 717291 h 825498"/>
              <a:gd name="connsiteX136" fmla="*/ 5006086 w 6858000"/>
              <a:gd name="connsiteY136" fmla="*/ 711578 h 825498"/>
              <a:gd name="connsiteX137" fmla="*/ 5082670 w 6858000"/>
              <a:gd name="connsiteY137" fmla="*/ 710434 h 825498"/>
              <a:gd name="connsiteX138" fmla="*/ 5107627 w 6858000"/>
              <a:gd name="connsiteY138" fmla="*/ 709098 h 825498"/>
              <a:gd name="connsiteX139" fmla="*/ 5129916 w 6858000"/>
              <a:gd name="connsiteY139" fmla="*/ 708336 h 825498"/>
              <a:gd name="connsiteX140" fmla="*/ 5206308 w 6858000"/>
              <a:gd name="connsiteY140" fmla="*/ 723959 h 825498"/>
              <a:gd name="connsiteX141" fmla="*/ 5274129 w 6858000"/>
              <a:gd name="connsiteY141" fmla="*/ 724911 h 825498"/>
              <a:gd name="connsiteX142" fmla="*/ 5393005 w 6858000"/>
              <a:gd name="connsiteY142" fmla="*/ 737485 h 825498"/>
              <a:gd name="connsiteX143" fmla="*/ 5419295 w 6858000"/>
              <a:gd name="connsiteY143" fmla="*/ 733103 h 825498"/>
              <a:gd name="connsiteX144" fmla="*/ 5501594 w 6858000"/>
              <a:gd name="connsiteY144" fmla="*/ 731389 h 825498"/>
              <a:gd name="connsiteX145" fmla="*/ 5548460 w 6858000"/>
              <a:gd name="connsiteY145" fmla="*/ 730056 h 825498"/>
              <a:gd name="connsiteX146" fmla="*/ 5606372 w 6858000"/>
              <a:gd name="connsiteY146" fmla="*/ 739199 h 825498"/>
              <a:gd name="connsiteX147" fmla="*/ 5706959 w 6858000"/>
              <a:gd name="connsiteY147" fmla="*/ 758630 h 825498"/>
              <a:gd name="connsiteX148" fmla="*/ 5733440 w 6858000"/>
              <a:gd name="connsiteY148" fmla="*/ 761678 h 825498"/>
              <a:gd name="connsiteX149" fmla="*/ 5781830 w 6858000"/>
              <a:gd name="connsiteY149" fmla="*/ 771015 h 825498"/>
              <a:gd name="connsiteX150" fmla="*/ 5790592 w 6858000"/>
              <a:gd name="connsiteY150" fmla="*/ 772730 h 825498"/>
              <a:gd name="connsiteX151" fmla="*/ 5864318 w 6858000"/>
              <a:gd name="connsiteY151" fmla="*/ 796351 h 825498"/>
              <a:gd name="connsiteX152" fmla="*/ 5902610 w 6858000"/>
              <a:gd name="connsiteY152" fmla="*/ 798255 h 825498"/>
              <a:gd name="connsiteX153" fmla="*/ 6012723 w 6858000"/>
              <a:gd name="connsiteY153" fmla="*/ 798447 h 825498"/>
              <a:gd name="connsiteX154" fmla="*/ 6059397 w 6858000"/>
              <a:gd name="connsiteY154" fmla="*/ 794827 h 825498"/>
              <a:gd name="connsiteX155" fmla="*/ 6171605 w 6858000"/>
              <a:gd name="connsiteY155" fmla="*/ 780921 h 825498"/>
              <a:gd name="connsiteX156" fmla="*/ 6242093 w 6858000"/>
              <a:gd name="connsiteY156" fmla="*/ 774063 h 825498"/>
              <a:gd name="connsiteX157" fmla="*/ 6323058 w 6858000"/>
              <a:gd name="connsiteY157" fmla="*/ 763202 h 825498"/>
              <a:gd name="connsiteX158" fmla="*/ 6415833 w 6858000"/>
              <a:gd name="connsiteY158" fmla="*/ 756344 h 825498"/>
              <a:gd name="connsiteX159" fmla="*/ 6584812 w 6858000"/>
              <a:gd name="connsiteY159" fmla="*/ 735580 h 825498"/>
              <a:gd name="connsiteX160" fmla="*/ 6748458 w 6858000"/>
              <a:gd name="connsiteY160" fmla="*/ 714053 h 825498"/>
              <a:gd name="connsiteX161" fmla="*/ 6815516 w 6858000"/>
              <a:gd name="connsiteY161" fmla="*/ 695002 h 825498"/>
              <a:gd name="connsiteX162" fmla="*/ 6858000 w 6858000"/>
              <a:gd name="connsiteY162" fmla="*/ 685303 h 825498"/>
              <a:gd name="connsiteX163" fmla="*/ 6858000 w 6858000"/>
              <a:gd name="connsiteY163" fmla="*/ 0 h 825498"/>
              <a:gd name="connsiteX164" fmla="*/ 1687324 w 6858000"/>
              <a:gd name="connsiteY164" fmla="*/ 0 h 825498"/>
              <a:gd name="connsiteX165" fmla="*/ 1 w 6858000"/>
              <a:gd name="connsiteY165" fmla="*/ 0 h 825498"/>
              <a:gd name="connsiteX166" fmla="*/ 1 w 6858000"/>
              <a:gd name="connsiteY166" fmla="*/ 19988 h 82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6858000" h="825498">
                <a:moveTo>
                  <a:pt x="6742558" y="499736"/>
                </a:moveTo>
                <a:lnTo>
                  <a:pt x="6812057" y="519211"/>
                </a:lnTo>
                <a:lnTo>
                  <a:pt x="6776799" y="514438"/>
                </a:lnTo>
                <a:close/>
                <a:moveTo>
                  <a:pt x="6625227" y="507591"/>
                </a:moveTo>
                <a:lnTo>
                  <a:pt x="6662536" y="500498"/>
                </a:lnTo>
                <a:lnTo>
                  <a:pt x="6645552" y="507580"/>
                </a:lnTo>
                <a:close/>
                <a:moveTo>
                  <a:pt x="6513012" y="515082"/>
                </a:moveTo>
                <a:lnTo>
                  <a:pt x="6546191" y="496279"/>
                </a:lnTo>
                <a:lnTo>
                  <a:pt x="6521803" y="512615"/>
                </a:lnTo>
                <a:close/>
                <a:moveTo>
                  <a:pt x="5935958" y="643374"/>
                </a:moveTo>
                <a:lnTo>
                  <a:pt x="5993267" y="639757"/>
                </a:lnTo>
                <a:lnTo>
                  <a:pt x="5964477" y="643207"/>
                </a:lnTo>
                <a:close/>
                <a:moveTo>
                  <a:pt x="5883762" y="625473"/>
                </a:moveTo>
                <a:lnTo>
                  <a:pt x="5935941" y="643372"/>
                </a:lnTo>
                <a:lnTo>
                  <a:pt x="5909350" y="636492"/>
                </a:lnTo>
                <a:close/>
                <a:moveTo>
                  <a:pt x="5507674" y="462345"/>
                </a:moveTo>
                <a:lnTo>
                  <a:pt x="5531687" y="451730"/>
                </a:lnTo>
                <a:lnTo>
                  <a:pt x="5520422" y="460125"/>
                </a:lnTo>
                <a:close/>
                <a:moveTo>
                  <a:pt x="5308185" y="440592"/>
                </a:moveTo>
                <a:lnTo>
                  <a:pt x="5312288" y="438109"/>
                </a:lnTo>
                <a:lnTo>
                  <a:pt x="5317382" y="437516"/>
                </a:lnTo>
                <a:close/>
                <a:moveTo>
                  <a:pt x="5087451" y="476086"/>
                </a:moveTo>
                <a:lnTo>
                  <a:pt x="5133209" y="489108"/>
                </a:lnTo>
                <a:lnTo>
                  <a:pt x="5102460" y="481967"/>
                </a:lnTo>
                <a:close/>
                <a:moveTo>
                  <a:pt x="5041538" y="462968"/>
                </a:moveTo>
                <a:lnTo>
                  <a:pt x="5064790" y="467587"/>
                </a:lnTo>
                <a:lnTo>
                  <a:pt x="5070579" y="469759"/>
                </a:lnTo>
                <a:close/>
                <a:moveTo>
                  <a:pt x="4957458" y="419205"/>
                </a:moveTo>
                <a:lnTo>
                  <a:pt x="4961456" y="420481"/>
                </a:lnTo>
                <a:lnTo>
                  <a:pt x="4987033" y="436483"/>
                </a:lnTo>
                <a:close/>
                <a:moveTo>
                  <a:pt x="4863344" y="407230"/>
                </a:moveTo>
                <a:lnTo>
                  <a:pt x="4889270" y="414757"/>
                </a:lnTo>
                <a:lnTo>
                  <a:pt x="4867614" y="409980"/>
                </a:lnTo>
                <a:lnTo>
                  <a:pt x="4866598" y="409326"/>
                </a:lnTo>
                <a:close/>
                <a:moveTo>
                  <a:pt x="3962162" y="411409"/>
                </a:moveTo>
                <a:lnTo>
                  <a:pt x="4043830" y="395719"/>
                </a:lnTo>
                <a:lnTo>
                  <a:pt x="4002410" y="409019"/>
                </a:lnTo>
                <a:close/>
                <a:moveTo>
                  <a:pt x="2848821" y="455907"/>
                </a:moveTo>
                <a:lnTo>
                  <a:pt x="2897785" y="440313"/>
                </a:lnTo>
                <a:lnTo>
                  <a:pt x="2903542" y="439285"/>
                </a:lnTo>
                <a:close/>
                <a:moveTo>
                  <a:pt x="2785442" y="506948"/>
                </a:moveTo>
                <a:lnTo>
                  <a:pt x="2811779" y="496871"/>
                </a:lnTo>
                <a:lnTo>
                  <a:pt x="2793022" y="506520"/>
                </a:lnTo>
                <a:close/>
                <a:moveTo>
                  <a:pt x="2745376" y="501455"/>
                </a:moveTo>
                <a:lnTo>
                  <a:pt x="2778004" y="507369"/>
                </a:lnTo>
                <a:lnTo>
                  <a:pt x="2770757" y="507779"/>
                </a:lnTo>
                <a:close/>
                <a:moveTo>
                  <a:pt x="2463020" y="387977"/>
                </a:moveTo>
                <a:lnTo>
                  <a:pt x="2518249" y="379338"/>
                </a:lnTo>
                <a:lnTo>
                  <a:pt x="2490551" y="385915"/>
                </a:lnTo>
                <a:close/>
                <a:moveTo>
                  <a:pt x="1933219" y="188445"/>
                </a:moveTo>
                <a:lnTo>
                  <a:pt x="1933220" y="188446"/>
                </a:lnTo>
                <a:cubicBezTo>
                  <a:pt x="1940460" y="196066"/>
                  <a:pt x="1949604" y="203307"/>
                  <a:pt x="1953414" y="212451"/>
                </a:cubicBezTo>
                <a:lnTo>
                  <a:pt x="1978655" y="244478"/>
                </a:lnTo>
                <a:cubicBezTo>
                  <a:pt x="1967939" y="237120"/>
                  <a:pt x="1959319" y="226833"/>
                  <a:pt x="1953413" y="212450"/>
                </a:cubicBezTo>
                <a:close/>
                <a:moveTo>
                  <a:pt x="1842158" y="82524"/>
                </a:moveTo>
                <a:lnTo>
                  <a:pt x="1842159" y="82525"/>
                </a:lnTo>
                <a:lnTo>
                  <a:pt x="1916455" y="173016"/>
                </a:lnTo>
                <a:lnTo>
                  <a:pt x="1916454" y="173015"/>
                </a:lnTo>
                <a:close/>
                <a:moveTo>
                  <a:pt x="338916" y="12999"/>
                </a:moveTo>
                <a:lnTo>
                  <a:pt x="395626" y="22894"/>
                </a:lnTo>
                <a:lnTo>
                  <a:pt x="367327" y="19086"/>
                </a:lnTo>
                <a:close/>
                <a:moveTo>
                  <a:pt x="153394" y="30626"/>
                </a:moveTo>
                <a:lnTo>
                  <a:pt x="228906" y="38895"/>
                </a:lnTo>
                <a:lnTo>
                  <a:pt x="177271" y="34439"/>
                </a:lnTo>
                <a:close/>
                <a:moveTo>
                  <a:pt x="0" y="19988"/>
                </a:moveTo>
                <a:lnTo>
                  <a:pt x="0" y="484096"/>
                </a:lnTo>
                <a:lnTo>
                  <a:pt x="1" y="484096"/>
                </a:lnTo>
                <a:lnTo>
                  <a:pt x="1" y="484097"/>
                </a:lnTo>
                <a:lnTo>
                  <a:pt x="2817" y="482970"/>
                </a:lnTo>
                <a:cubicBezTo>
                  <a:pt x="21486" y="474588"/>
                  <a:pt x="43012" y="471921"/>
                  <a:pt x="63587" y="468871"/>
                </a:cubicBezTo>
                <a:cubicBezTo>
                  <a:pt x="101308" y="463347"/>
                  <a:pt x="139219" y="459917"/>
                  <a:pt x="176939" y="454966"/>
                </a:cubicBezTo>
                <a:cubicBezTo>
                  <a:pt x="184941" y="453821"/>
                  <a:pt x="194085" y="451728"/>
                  <a:pt x="200182" y="446963"/>
                </a:cubicBezTo>
                <a:cubicBezTo>
                  <a:pt x="241901" y="414958"/>
                  <a:pt x="292579" y="406005"/>
                  <a:pt x="340774" y="409051"/>
                </a:cubicBezTo>
                <a:cubicBezTo>
                  <a:pt x="378686" y="411340"/>
                  <a:pt x="415835" y="413054"/>
                  <a:pt x="453364" y="409816"/>
                </a:cubicBezTo>
                <a:cubicBezTo>
                  <a:pt x="456222" y="409624"/>
                  <a:pt x="460032" y="410006"/>
                  <a:pt x="462126" y="411530"/>
                </a:cubicBezTo>
                <a:cubicBezTo>
                  <a:pt x="475081" y="421626"/>
                  <a:pt x="488607" y="422388"/>
                  <a:pt x="505182" y="424102"/>
                </a:cubicBezTo>
                <a:cubicBezTo>
                  <a:pt x="528615" y="426580"/>
                  <a:pt x="550141" y="424864"/>
                  <a:pt x="571860" y="420674"/>
                </a:cubicBezTo>
                <a:cubicBezTo>
                  <a:pt x="587672" y="417626"/>
                  <a:pt x="603673" y="411340"/>
                  <a:pt x="617772" y="403337"/>
                </a:cubicBezTo>
                <a:cubicBezTo>
                  <a:pt x="637392" y="392097"/>
                  <a:pt x="656255" y="387717"/>
                  <a:pt x="674923" y="402575"/>
                </a:cubicBezTo>
                <a:cubicBezTo>
                  <a:pt x="695116" y="418388"/>
                  <a:pt x="717977" y="412864"/>
                  <a:pt x="740268" y="413434"/>
                </a:cubicBezTo>
                <a:cubicBezTo>
                  <a:pt x="749982" y="413626"/>
                  <a:pt x="760270" y="413244"/>
                  <a:pt x="769605" y="415720"/>
                </a:cubicBezTo>
                <a:cubicBezTo>
                  <a:pt x="796655" y="422770"/>
                  <a:pt x="822756" y="433438"/>
                  <a:pt x="850189" y="438200"/>
                </a:cubicBezTo>
                <a:cubicBezTo>
                  <a:pt x="865430" y="440867"/>
                  <a:pt x="882384" y="436104"/>
                  <a:pt x="898198" y="432676"/>
                </a:cubicBezTo>
                <a:cubicBezTo>
                  <a:pt x="914200" y="429056"/>
                  <a:pt x="930011" y="423532"/>
                  <a:pt x="945444" y="417816"/>
                </a:cubicBezTo>
                <a:cubicBezTo>
                  <a:pt x="955920" y="414006"/>
                  <a:pt x="967350" y="410386"/>
                  <a:pt x="975733" y="403527"/>
                </a:cubicBezTo>
                <a:cubicBezTo>
                  <a:pt x="994785" y="387907"/>
                  <a:pt x="1014406" y="385239"/>
                  <a:pt x="1036887" y="393431"/>
                </a:cubicBezTo>
                <a:cubicBezTo>
                  <a:pt x="1040315" y="394765"/>
                  <a:pt x="1044315" y="394765"/>
                  <a:pt x="1048125" y="394955"/>
                </a:cubicBezTo>
                <a:cubicBezTo>
                  <a:pt x="1109091" y="398955"/>
                  <a:pt x="1170051" y="401433"/>
                  <a:pt x="1230633" y="407529"/>
                </a:cubicBezTo>
                <a:cubicBezTo>
                  <a:pt x="1255206" y="410006"/>
                  <a:pt x="1278829" y="420864"/>
                  <a:pt x="1303024" y="427722"/>
                </a:cubicBezTo>
                <a:cubicBezTo>
                  <a:pt x="1307978" y="429056"/>
                  <a:pt x="1313504" y="431152"/>
                  <a:pt x="1318456" y="430198"/>
                </a:cubicBezTo>
                <a:cubicBezTo>
                  <a:pt x="1372368" y="420674"/>
                  <a:pt x="1422854" y="434580"/>
                  <a:pt x="1472575" y="452870"/>
                </a:cubicBezTo>
                <a:cubicBezTo>
                  <a:pt x="1477717" y="454775"/>
                  <a:pt x="1484004" y="454203"/>
                  <a:pt x="1489720" y="453821"/>
                </a:cubicBezTo>
                <a:cubicBezTo>
                  <a:pt x="1505724" y="452489"/>
                  <a:pt x="1523059" y="445821"/>
                  <a:pt x="1537537" y="449821"/>
                </a:cubicBezTo>
                <a:cubicBezTo>
                  <a:pt x="1576019" y="460871"/>
                  <a:pt x="1614120" y="474206"/>
                  <a:pt x="1650317" y="490970"/>
                </a:cubicBezTo>
                <a:cubicBezTo>
                  <a:pt x="1687086" y="507925"/>
                  <a:pt x="1721185" y="522213"/>
                  <a:pt x="1763287" y="505069"/>
                </a:cubicBezTo>
                <a:cubicBezTo>
                  <a:pt x="1781194" y="497828"/>
                  <a:pt x="1804816" y="502973"/>
                  <a:pt x="1825393" y="504877"/>
                </a:cubicBezTo>
                <a:cubicBezTo>
                  <a:pt x="1840441" y="506402"/>
                  <a:pt x="1854920" y="514975"/>
                  <a:pt x="1869780" y="514975"/>
                </a:cubicBezTo>
                <a:cubicBezTo>
                  <a:pt x="1909408" y="514975"/>
                  <a:pt x="1944649" y="525071"/>
                  <a:pt x="1978940" y="545646"/>
                </a:cubicBezTo>
                <a:cubicBezTo>
                  <a:pt x="1992279" y="553646"/>
                  <a:pt x="2013043" y="548312"/>
                  <a:pt x="2030378" y="550408"/>
                </a:cubicBezTo>
                <a:cubicBezTo>
                  <a:pt x="2048668" y="552885"/>
                  <a:pt x="2067525" y="555170"/>
                  <a:pt x="2085054" y="560697"/>
                </a:cubicBezTo>
                <a:cubicBezTo>
                  <a:pt x="2130393" y="575175"/>
                  <a:pt x="2175163" y="591558"/>
                  <a:pt x="2220312" y="606798"/>
                </a:cubicBezTo>
                <a:cubicBezTo>
                  <a:pt x="2257459" y="619373"/>
                  <a:pt x="2294039" y="609466"/>
                  <a:pt x="2330806" y="604132"/>
                </a:cubicBezTo>
                <a:cubicBezTo>
                  <a:pt x="2353859" y="600702"/>
                  <a:pt x="2375383" y="592510"/>
                  <a:pt x="2401292" y="604702"/>
                </a:cubicBezTo>
                <a:cubicBezTo>
                  <a:pt x="2426059" y="616325"/>
                  <a:pt x="2457492" y="613656"/>
                  <a:pt x="2485307" y="619943"/>
                </a:cubicBezTo>
                <a:cubicBezTo>
                  <a:pt x="2508742" y="625277"/>
                  <a:pt x="2531409" y="633851"/>
                  <a:pt x="2554079" y="642232"/>
                </a:cubicBezTo>
                <a:cubicBezTo>
                  <a:pt x="2584942" y="653663"/>
                  <a:pt x="2615421" y="665663"/>
                  <a:pt x="2649143" y="659949"/>
                </a:cubicBezTo>
                <a:cubicBezTo>
                  <a:pt x="2687436" y="653471"/>
                  <a:pt x="2713723" y="677855"/>
                  <a:pt x="2743826" y="694050"/>
                </a:cubicBezTo>
                <a:cubicBezTo>
                  <a:pt x="2764590" y="705098"/>
                  <a:pt x="2787259" y="713291"/>
                  <a:pt x="2809930" y="720149"/>
                </a:cubicBezTo>
                <a:cubicBezTo>
                  <a:pt x="2840219" y="729103"/>
                  <a:pt x="2871462" y="734438"/>
                  <a:pt x="2901943" y="743200"/>
                </a:cubicBezTo>
                <a:cubicBezTo>
                  <a:pt x="2948047" y="756344"/>
                  <a:pt x="2994722" y="766632"/>
                  <a:pt x="3042728" y="759392"/>
                </a:cubicBezTo>
                <a:cubicBezTo>
                  <a:pt x="3064827" y="756154"/>
                  <a:pt x="3085403" y="756344"/>
                  <a:pt x="3107500" y="761108"/>
                </a:cubicBezTo>
                <a:cubicBezTo>
                  <a:pt x="3143695" y="768919"/>
                  <a:pt x="3180844" y="769871"/>
                  <a:pt x="3209993" y="799018"/>
                </a:cubicBezTo>
                <a:cubicBezTo>
                  <a:pt x="3220280" y="809306"/>
                  <a:pt x="3238758" y="811972"/>
                  <a:pt x="3253809" y="817306"/>
                </a:cubicBezTo>
                <a:cubicBezTo>
                  <a:pt x="3271145" y="823595"/>
                  <a:pt x="3283908" y="820355"/>
                  <a:pt x="3293244" y="802066"/>
                </a:cubicBezTo>
                <a:cubicBezTo>
                  <a:pt x="3297434" y="793875"/>
                  <a:pt x="3309437" y="785874"/>
                  <a:pt x="3318771" y="784539"/>
                </a:cubicBezTo>
                <a:cubicBezTo>
                  <a:pt x="3346776" y="780539"/>
                  <a:pt x="3372495" y="786445"/>
                  <a:pt x="3399546" y="799400"/>
                </a:cubicBezTo>
                <a:cubicBezTo>
                  <a:pt x="3424883" y="811593"/>
                  <a:pt x="3456508" y="810258"/>
                  <a:pt x="3485275" y="815020"/>
                </a:cubicBezTo>
                <a:cubicBezTo>
                  <a:pt x="3505657" y="818450"/>
                  <a:pt x="3526042" y="825498"/>
                  <a:pt x="3546617" y="825498"/>
                </a:cubicBezTo>
                <a:cubicBezTo>
                  <a:pt x="3572146" y="825498"/>
                  <a:pt x="3597482" y="819402"/>
                  <a:pt x="3623201" y="817117"/>
                </a:cubicBezTo>
                <a:cubicBezTo>
                  <a:pt x="3643204" y="815212"/>
                  <a:pt x="3663589" y="815975"/>
                  <a:pt x="3683591" y="813688"/>
                </a:cubicBezTo>
                <a:cubicBezTo>
                  <a:pt x="3699976" y="811972"/>
                  <a:pt x="3716168" y="807592"/>
                  <a:pt x="3732361" y="803973"/>
                </a:cubicBezTo>
                <a:cubicBezTo>
                  <a:pt x="3738267" y="802638"/>
                  <a:pt x="3744173" y="797493"/>
                  <a:pt x="3749506" y="798255"/>
                </a:cubicBezTo>
                <a:cubicBezTo>
                  <a:pt x="3802467" y="806448"/>
                  <a:pt x="3840569" y="769871"/>
                  <a:pt x="3885338" y="753679"/>
                </a:cubicBezTo>
                <a:cubicBezTo>
                  <a:pt x="3932394" y="736531"/>
                  <a:pt x="3977925" y="710243"/>
                  <a:pt x="4030503" y="718054"/>
                </a:cubicBezTo>
                <a:cubicBezTo>
                  <a:pt x="4062318" y="722815"/>
                  <a:pt x="4092989" y="733865"/>
                  <a:pt x="4124614" y="740535"/>
                </a:cubicBezTo>
                <a:cubicBezTo>
                  <a:pt x="4135854" y="742820"/>
                  <a:pt x="4148427" y="742438"/>
                  <a:pt x="4159667" y="740152"/>
                </a:cubicBezTo>
                <a:cubicBezTo>
                  <a:pt x="4213961" y="729673"/>
                  <a:pt x="4267493" y="728149"/>
                  <a:pt x="4320837" y="745296"/>
                </a:cubicBezTo>
                <a:cubicBezTo>
                  <a:pt x="4329979" y="748155"/>
                  <a:pt x="4339695" y="750820"/>
                  <a:pt x="4349222" y="750820"/>
                </a:cubicBezTo>
                <a:cubicBezTo>
                  <a:pt x="4401419" y="750820"/>
                  <a:pt x="4452665" y="746820"/>
                  <a:pt x="4502579" y="728149"/>
                </a:cubicBezTo>
                <a:cubicBezTo>
                  <a:pt x="4519343" y="721863"/>
                  <a:pt x="4539728" y="725863"/>
                  <a:pt x="4558207" y="724339"/>
                </a:cubicBezTo>
                <a:cubicBezTo>
                  <a:pt x="4575351" y="723007"/>
                  <a:pt x="4592878" y="722436"/>
                  <a:pt x="4609452" y="718054"/>
                </a:cubicBezTo>
                <a:cubicBezTo>
                  <a:pt x="4633647" y="711578"/>
                  <a:pt x="4656126" y="710815"/>
                  <a:pt x="4681083" y="716529"/>
                </a:cubicBezTo>
                <a:cubicBezTo>
                  <a:pt x="4704895" y="721863"/>
                  <a:pt x="4730614" y="719198"/>
                  <a:pt x="4755381" y="719387"/>
                </a:cubicBezTo>
                <a:cubicBezTo>
                  <a:pt x="4783004" y="719577"/>
                  <a:pt x="4810627" y="719767"/>
                  <a:pt x="4838250" y="718815"/>
                </a:cubicBezTo>
                <a:cubicBezTo>
                  <a:pt x="4849300" y="718435"/>
                  <a:pt x="4861873" y="710815"/>
                  <a:pt x="4871019" y="713863"/>
                </a:cubicBezTo>
                <a:cubicBezTo>
                  <a:pt x="4900546" y="724149"/>
                  <a:pt x="4930075" y="711767"/>
                  <a:pt x="4959602" y="717291"/>
                </a:cubicBezTo>
                <a:cubicBezTo>
                  <a:pt x="4974082" y="720149"/>
                  <a:pt x="4990465" y="712339"/>
                  <a:pt x="5006086" y="711578"/>
                </a:cubicBezTo>
                <a:cubicBezTo>
                  <a:pt x="5031614" y="710243"/>
                  <a:pt x="5057141" y="710815"/>
                  <a:pt x="5082670" y="710434"/>
                </a:cubicBezTo>
                <a:cubicBezTo>
                  <a:pt x="5091052" y="710243"/>
                  <a:pt x="5099245" y="709481"/>
                  <a:pt x="5107627" y="709098"/>
                </a:cubicBezTo>
                <a:cubicBezTo>
                  <a:pt x="5115057" y="708718"/>
                  <a:pt x="5122867" y="707004"/>
                  <a:pt x="5129916" y="708336"/>
                </a:cubicBezTo>
                <a:cubicBezTo>
                  <a:pt x="5155445" y="713101"/>
                  <a:pt x="5180591" y="720911"/>
                  <a:pt x="5206308" y="723959"/>
                </a:cubicBezTo>
                <a:cubicBezTo>
                  <a:pt x="5228597" y="726625"/>
                  <a:pt x="5251650" y="723007"/>
                  <a:pt x="5274129" y="724911"/>
                </a:cubicBezTo>
                <a:cubicBezTo>
                  <a:pt x="5313754" y="728149"/>
                  <a:pt x="5353379" y="733865"/>
                  <a:pt x="5393005" y="737485"/>
                </a:cubicBezTo>
                <a:cubicBezTo>
                  <a:pt x="5401579" y="738247"/>
                  <a:pt x="5410531" y="733483"/>
                  <a:pt x="5419295" y="733103"/>
                </a:cubicBezTo>
                <a:cubicBezTo>
                  <a:pt x="5446728" y="732151"/>
                  <a:pt x="5474161" y="731959"/>
                  <a:pt x="5501594" y="731389"/>
                </a:cubicBezTo>
                <a:cubicBezTo>
                  <a:pt x="5517215" y="731198"/>
                  <a:pt x="5533027" y="731769"/>
                  <a:pt x="5548460" y="730056"/>
                </a:cubicBezTo>
                <a:cubicBezTo>
                  <a:pt x="5568842" y="727769"/>
                  <a:pt x="5587321" y="724339"/>
                  <a:pt x="5606372" y="739199"/>
                </a:cubicBezTo>
                <a:cubicBezTo>
                  <a:pt x="5635711" y="762250"/>
                  <a:pt x="5673050" y="753296"/>
                  <a:pt x="5706959" y="758630"/>
                </a:cubicBezTo>
                <a:cubicBezTo>
                  <a:pt x="5715723" y="759964"/>
                  <a:pt x="5724678" y="760155"/>
                  <a:pt x="5733440" y="761678"/>
                </a:cubicBezTo>
                <a:cubicBezTo>
                  <a:pt x="5749634" y="764537"/>
                  <a:pt x="5765635" y="767774"/>
                  <a:pt x="5781830" y="771015"/>
                </a:cubicBezTo>
                <a:cubicBezTo>
                  <a:pt x="5784686" y="771585"/>
                  <a:pt x="5787924" y="771777"/>
                  <a:pt x="5790592" y="772730"/>
                </a:cubicBezTo>
                <a:cubicBezTo>
                  <a:pt x="5815169" y="780729"/>
                  <a:pt x="5839361" y="789873"/>
                  <a:pt x="5864318" y="796351"/>
                </a:cubicBezTo>
                <a:cubicBezTo>
                  <a:pt x="5876511" y="799591"/>
                  <a:pt x="5890037" y="799972"/>
                  <a:pt x="5902610" y="798255"/>
                </a:cubicBezTo>
                <a:cubicBezTo>
                  <a:pt x="5939377" y="793303"/>
                  <a:pt x="5975764" y="791207"/>
                  <a:pt x="6012723" y="798447"/>
                </a:cubicBezTo>
                <a:cubicBezTo>
                  <a:pt x="6027392" y="801304"/>
                  <a:pt x="6043776" y="796541"/>
                  <a:pt x="6059397" y="794827"/>
                </a:cubicBezTo>
                <a:cubicBezTo>
                  <a:pt x="6096736" y="790256"/>
                  <a:pt x="6134075" y="785301"/>
                  <a:pt x="6171605" y="780921"/>
                </a:cubicBezTo>
                <a:cubicBezTo>
                  <a:pt x="6195037" y="778254"/>
                  <a:pt x="6218660" y="776729"/>
                  <a:pt x="6242093" y="774063"/>
                </a:cubicBezTo>
                <a:cubicBezTo>
                  <a:pt x="6269144" y="770823"/>
                  <a:pt x="6296005" y="765870"/>
                  <a:pt x="6323058" y="763202"/>
                </a:cubicBezTo>
                <a:cubicBezTo>
                  <a:pt x="6353919" y="760155"/>
                  <a:pt x="6384972" y="759584"/>
                  <a:pt x="6415833" y="756344"/>
                </a:cubicBezTo>
                <a:cubicBezTo>
                  <a:pt x="6472225" y="750058"/>
                  <a:pt x="6528424" y="742628"/>
                  <a:pt x="6584812" y="735580"/>
                </a:cubicBezTo>
                <a:cubicBezTo>
                  <a:pt x="6639488" y="728721"/>
                  <a:pt x="6694164" y="722625"/>
                  <a:pt x="6748458" y="714053"/>
                </a:cubicBezTo>
                <a:cubicBezTo>
                  <a:pt x="6771319" y="710434"/>
                  <a:pt x="6793035" y="700526"/>
                  <a:pt x="6815516" y="695002"/>
                </a:cubicBezTo>
                <a:lnTo>
                  <a:pt x="6858000" y="685303"/>
                </a:lnTo>
                <a:lnTo>
                  <a:pt x="6858000" y="0"/>
                </a:lnTo>
                <a:lnTo>
                  <a:pt x="1687324" y="0"/>
                </a:lnTo>
                <a:lnTo>
                  <a:pt x="1" y="0"/>
                </a:lnTo>
                <a:lnTo>
                  <a:pt x="1" y="199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F84423-EC54-5048-F664-F7E61F0A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99D846-0C92-F0C0-8852-DA09FE686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B4CD58E-3FA0-9519-1A20-C67CF1D1B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7467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96C28-63C6-AE2C-E974-CC136E6D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8D7E5-D16D-46A5-95CF-A4EE943D8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14E875-270B-4CDD-4434-1A7A9FB4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458" y="-970"/>
            <a:ext cx="6349541" cy="1528706"/>
          </a:xfr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endParaRPr lang="en-US" sz="6800" b="1"/>
          </a:p>
          <a:p>
            <a:r>
              <a:rPr lang="en-US" sz="4400" b="1"/>
              <a:t>Diabetic Retinopathy :</a:t>
            </a:r>
            <a:endParaRPr lang="en-US" sz="4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E8FE6-C59D-275A-C3FA-76A70100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457" y="1928417"/>
            <a:ext cx="6349540" cy="429886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800">
                <a:solidFill>
                  <a:schemeClr val="tx1"/>
                </a:solidFill>
              </a:rPr>
              <a:t>Caused by prolonged high blood sugar in people with diabetes.</a:t>
            </a:r>
            <a:endParaRPr lang="en-US">
              <a:solidFill>
                <a:schemeClr val="tx1"/>
              </a:solidFill>
            </a:endParaRPr>
          </a:p>
          <a:p>
            <a:endParaRPr lang="en-US" sz="1800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800">
                <a:solidFill>
                  <a:schemeClr val="tx1"/>
                </a:solidFill>
              </a:rPr>
              <a:t>Damages the blood vessels in the retina.</a:t>
            </a:r>
          </a:p>
          <a:p>
            <a:endParaRPr lang="en-US" sz="1800">
              <a:solidFill>
                <a:schemeClr val="tx1"/>
              </a:solidFill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800">
                <a:solidFill>
                  <a:schemeClr val="tx1"/>
                </a:solidFill>
              </a:rPr>
              <a:t>Leading cause of blindness in working-age adults.</a:t>
            </a:r>
          </a:p>
          <a:p>
            <a:endParaRPr lang="en-US" sz="18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800">
                <a:solidFill>
                  <a:schemeClr val="tx1"/>
                </a:solidFill>
                <a:ea typeface="+mn-lt"/>
                <a:cs typeface="+mn-lt"/>
              </a:rPr>
              <a:t>Risk factors: High blood sugar, High blood pressure, High cholesterol.</a:t>
            </a:r>
            <a:endParaRPr lang="en-US" sz="1800">
              <a:solidFill>
                <a:schemeClr val="tx1"/>
              </a:solidFill>
            </a:endParaRPr>
          </a:p>
          <a:p>
            <a:endParaRPr lang="en-US" sz="18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800">
                <a:solidFill>
                  <a:schemeClr val="tx1"/>
                </a:solidFill>
                <a:ea typeface="+mn-lt"/>
                <a:cs typeface="+mn-lt"/>
              </a:rPr>
              <a:t>Early treatment can prevent severe vision loss.</a:t>
            </a:r>
            <a:endParaRPr lang="en-US">
              <a:solidFill>
                <a:schemeClr val="tx1"/>
              </a:solidFill>
            </a:endParaRPr>
          </a:p>
          <a:p>
            <a:endParaRPr lang="en-US" sz="18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800">
                <a:solidFill>
                  <a:schemeClr val="tx1"/>
                </a:solidFill>
                <a:ea typeface="+mn-lt"/>
                <a:cs typeface="+mn-lt"/>
              </a:rPr>
              <a:t>Screening and prediction tools can make early detection easier.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  <a:p>
            <a:pPr marL="285750" indent="-285750">
              <a:buFont typeface="Wingdings" panose="020B0604020202020204" pitchFamily="34" charset="0"/>
              <a:buChar char="Ø"/>
            </a:pPr>
            <a:endParaRPr lang="en-US" sz="1800">
              <a:solidFill>
                <a:schemeClr val="tx1"/>
              </a:solidFill>
            </a:endParaRPr>
          </a:p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8FF1DD-6B6A-4F7A-9F2D-6BC47F56A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D8FBD0B-C1AF-4B85-811D-11036103C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CB050E-8FF3-45FF-8B6A-43E59C1AC5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9F5DD5B-248C-4A3C-B1F9-DDEF53271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662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 of the eye and diabetic veins">
            <a:extLst>
              <a:ext uri="{FF2B5EF4-FFF2-40B4-BE49-F238E27FC236}">
                <a16:creationId xmlns:a16="http://schemas.microsoft.com/office/drawing/2014/main" id="{279B36CC-7FB0-626A-1650-05C001EA2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33" y="1181064"/>
            <a:ext cx="10291311" cy="4927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3D5E1D-52D2-CB57-A04E-B367F71F5A39}"/>
              </a:ext>
            </a:extLst>
          </p:cNvPr>
          <p:cNvSpPr txBox="1"/>
          <p:nvPr/>
        </p:nvSpPr>
        <p:spPr>
          <a:xfrm>
            <a:off x="6162" y="405500"/>
            <a:ext cx="12186717" cy="46166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>
                <a:solidFill>
                  <a:srgbClr val="FFFFFF"/>
                </a:solidFill>
                <a:latin typeface="Times New Roman"/>
                <a:cs typeface="Times New Roman"/>
              </a:rPr>
              <a:t>Difference</a:t>
            </a:r>
            <a:r>
              <a:rPr lang="en-GB" sz="2400">
                <a:latin typeface="Times New Roman"/>
                <a:cs typeface="Times New Roman"/>
              </a:rPr>
              <a:t> between Normal Retina and </a:t>
            </a:r>
            <a:r>
              <a:rPr lang="en-GB" sz="2400">
                <a:ea typeface="+mn-lt"/>
                <a:cs typeface="+mn-lt"/>
              </a:rPr>
              <a:t>Retina with Diabetic Retinopathy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03716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ECCB-8420-365E-803C-910AE2F5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351"/>
            <a:ext cx="12191999" cy="698141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GB" sz="4000" u="sng" cap="none" spc="0">
                <a:solidFill>
                  <a:schemeClr val="bg1"/>
                </a:solidFill>
                <a:latin typeface="Times New Roman"/>
                <a:cs typeface="Times New Roman"/>
              </a:rPr>
              <a:t>Dataset Details:</a:t>
            </a:r>
            <a:endParaRPr lang="en-US" cap="none" spc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33FF1-B1E8-09D2-D522-6183A8BA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707579"/>
            <a:ext cx="12191999" cy="614337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r>
              <a:rPr lang="en-GB" sz="7200">
                <a:solidFill>
                  <a:srgbClr val="011016"/>
                </a:solidFill>
                <a:latin typeface="Times New Roman"/>
                <a:ea typeface="Roboto"/>
                <a:cs typeface="Times New Roman"/>
              </a:rPr>
              <a:t>Target variables has two values in a classification project type: 0 (false) or 1 (true).</a:t>
            </a:r>
            <a:endParaRPr lang="en-US" sz="72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rgbClr val="011016"/>
                </a:solidFill>
                <a:latin typeface="Times New Roman"/>
                <a:ea typeface="Roboto"/>
                <a:cs typeface="Times New Roman"/>
              </a:rPr>
              <a:t> The number of instances (rows) in the data set is 6000.</a:t>
            </a:r>
            <a:endParaRPr lang="en-GB">
              <a:solidFill>
                <a:schemeClr val="tx2">
                  <a:lumMod val="10000"/>
                </a:schemeClr>
              </a:solidFill>
              <a:latin typeface="Arial Nova Cond"/>
              <a:ea typeface="Roboto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Roboto"/>
                <a:cs typeface="Times New Roman"/>
              </a:rPr>
              <a:t>The number of variables (columns) is 6.</a:t>
            </a:r>
            <a:endParaRPr lang="en-GB">
              <a:solidFill>
                <a:schemeClr val="tx2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rgbClr val="011016"/>
                </a:solidFill>
                <a:latin typeface="Times New Roman"/>
                <a:ea typeface="Roboto"/>
                <a:cs typeface="Roboto"/>
              </a:rPr>
              <a:t>The information of the variables available in the dataset:</a:t>
            </a:r>
            <a:endParaRPr lang="en-US" sz="7200">
              <a:solidFill>
                <a:srgbClr val="011016"/>
              </a:solidFill>
              <a:latin typeface="Times New Roman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rgbClr val="011016"/>
                </a:solidFill>
                <a:latin typeface="Times New Roman"/>
                <a:ea typeface="Roboto"/>
                <a:cs typeface="Roboto"/>
              </a:rPr>
              <a:t>1)</a:t>
            </a:r>
            <a:r>
              <a:rPr lang="en-GB" sz="7200" b="1">
                <a:solidFill>
                  <a:srgbClr val="011016"/>
                </a:solidFill>
                <a:latin typeface="Times New Roman"/>
                <a:ea typeface="Roboto"/>
                <a:cs typeface="Roboto"/>
              </a:rPr>
              <a:t>ID</a:t>
            </a:r>
            <a:r>
              <a:rPr lang="en-GB" sz="7200">
                <a:solidFill>
                  <a:srgbClr val="011016"/>
                </a:solidFill>
                <a:latin typeface="Times New Roman"/>
                <a:ea typeface="Roboto"/>
                <a:cs typeface="Roboto"/>
              </a:rPr>
              <a:t>: Unique id for each patient</a:t>
            </a:r>
            <a:endParaRPr lang="en-US" sz="7200">
              <a:solidFill>
                <a:srgbClr val="011016"/>
              </a:solidFill>
              <a:latin typeface="Times New Roman"/>
              <a:ea typeface="Roboto"/>
              <a:cs typeface="Roboto"/>
            </a:endParaRPr>
          </a:p>
          <a:p>
            <a:pPr algn="ctr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rgbClr val="2C2C2C"/>
              </a:buClr>
              <a:buFont typeface="Wingdings" pitchFamily="2" charset="2"/>
            </a:pPr>
            <a:br>
              <a:rPr lang="en-US" sz="2000"/>
            </a:br>
            <a:endParaRPr lang="en-US" sz="2000">
              <a:solidFill>
                <a:srgbClr val="011016"/>
              </a:solidFill>
              <a:latin typeface="Times New Roman"/>
              <a:cs typeface="Times New Roman"/>
            </a:endParaRPr>
          </a:p>
          <a:p>
            <a:pPr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2C2C2C"/>
              </a:buClr>
              <a:buFont typeface="Arial" panose="020B0604020202020204" pitchFamily="34" charset="0"/>
            </a:pPr>
            <a:r>
              <a:rPr lang="en-GB" sz="7200">
                <a:solidFill>
                  <a:srgbClr val="011016"/>
                </a:solidFill>
                <a:latin typeface="Times New Roman"/>
                <a:ea typeface="Roboto"/>
                <a:cs typeface="Roboto"/>
              </a:rPr>
              <a:t> 2)Age: Represent age of the patient.</a:t>
            </a:r>
            <a:endParaRPr lang="en-GB" sz="7200">
              <a:solidFill>
                <a:srgbClr val="011016"/>
              </a:solidFill>
              <a:latin typeface="Times New Roman"/>
              <a:cs typeface="Times New Roman"/>
            </a:endParaRPr>
          </a:p>
          <a:p>
            <a:pPr>
              <a:lnSpc>
                <a:spcPct val="70000"/>
              </a:lnSpc>
              <a:buClr>
                <a:srgbClr val="2C2C2C"/>
              </a:buClr>
            </a:pPr>
            <a:br>
              <a:rPr lang="en-US"/>
            </a:br>
            <a:endParaRPr lang="en-US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+mn-lt"/>
                <a:cs typeface="+mn-lt"/>
              </a:rPr>
              <a:t>3)</a:t>
            </a:r>
            <a:r>
              <a:rPr lang="en-GB" sz="7200" b="1" err="1">
                <a:solidFill>
                  <a:schemeClr val="tx2">
                    <a:lumMod val="10000"/>
                  </a:schemeClr>
                </a:solidFill>
                <a:latin typeface="Times New Roman"/>
                <a:ea typeface="+mn-lt"/>
                <a:cs typeface="+mn-lt"/>
              </a:rPr>
              <a:t>systolic_bp</a:t>
            </a: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+mn-lt"/>
                <a:cs typeface="+mn-lt"/>
              </a:rPr>
              <a:t>: (normal range: below 120mmHg). </a:t>
            </a:r>
            <a:endParaRPr lang="en-GB" sz="7200">
              <a:solidFill>
                <a:schemeClr val="tx2">
                  <a:lumMod val="10000"/>
                </a:schemeClr>
              </a:solidFill>
              <a:latin typeface="Times New Roman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+mn-lt"/>
                <a:cs typeface="+mn-lt"/>
              </a:rPr>
              <a:t>When the heart beats, it squeezes and pushes blood through the arteries to the </a:t>
            </a:r>
            <a:r>
              <a:rPr lang="en-GB" sz="7200">
                <a:solidFill>
                  <a:srgbClr val="011016"/>
                </a:solidFill>
                <a:latin typeface="Times New Roman"/>
                <a:ea typeface="+mn-lt"/>
                <a:cs typeface="+mn-lt"/>
              </a:rPr>
              <a:t>rest of the body.</a:t>
            </a:r>
            <a:endParaRPr lang="en-GB">
              <a:solidFill>
                <a:srgbClr val="FFFFFF"/>
              </a:solidFill>
              <a:latin typeface="Arial Nova Con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rgbClr val="011016"/>
                </a:solidFill>
                <a:latin typeface="Times New Roman"/>
                <a:ea typeface="+mn-lt"/>
                <a:cs typeface="+mn-lt"/>
              </a:rPr>
              <a:t>This force creates pressure on the blood vessels, and that is the systolic blood pressure.</a:t>
            </a:r>
            <a:endParaRPr lang="en-GB"/>
          </a:p>
          <a:p>
            <a:pPr>
              <a:lnSpc>
                <a:spcPct val="150000"/>
              </a:lnSpc>
              <a:buClr>
                <a:srgbClr val="2C2C2C"/>
              </a:buClr>
            </a:pP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+mn-lt"/>
                <a:cs typeface="+mn-lt"/>
              </a:rPr>
              <a:t>Systolic blood pressure (upper value in a BP reading).</a:t>
            </a:r>
          </a:p>
          <a:p>
            <a:pPr algn="ctr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rgbClr val="2C2C2C"/>
              </a:buClr>
              <a:buFont typeface="Wingdings" pitchFamily="2" charset="2"/>
            </a:pPr>
            <a:br>
              <a:rPr lang="en-US" sz="2000"/>
            </a:br>
            <a:endParaRPr lang="en-US" sz="2000">
              <a:solidFill>
                <a:srgbClr val="099BDD"/>
              </a:solidFill>
              <a:latin typeface="Corbel" panose="020B0503020204020204"/>
            </a:endParaRPr>
          </a:p>
          <a:p>
            <a:pPr algn="ctr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rgbClr val="2C2C2C"/>
              </a:buClr>
              <a:buFont typeface="Wingdings" pitchFamily="2" charset="2"/>
            </a:pPr>
            <a:endParaRPr lang="en-GB" sz="2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algn="ctr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rgbClr val="2C2C2C"/>
              </a:buClr>
              <a:buFont typeface="Wingdings" pitchFamily="2" charset="2"/>
            </a:pPr>
            <a:br>
              <a:rPr lang="en-US" sz="2000"/>
            </a:br>
            <a:endParaRPr lang="en-US" sz="3800">
              <a:solidFill>
                <a:srgbClr val="099BDD"/>
              </a:solidFill>
              <a:latin typeface="Corbel" panose="020B0503020204020204"/>
            </a:endParaRPr>
          </a:p>
        </p:txBody>
      </p:sp>
    </p:spTree>
    <p:extLst>
      <p:ext uri="{BB962C8B-B14F-4D97-AF65-F5344CB8AC3E}">
        <p14:creationId xmlns:p14="http://schemas.microsoft.com/office/powerpoint/2010/main" val="153642502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9E1D3-1126-DAF0-87F1-F156B192A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4D2D-8BD8-AC6C-A052-BEB24BFDC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351"/>
            <a:ext cx="12191999" cy="698141"/>
          </a:xfrm>
        </p:spPr>
        <p:txBody>
          <a:bodyPr>
            <a:normAutofit/>
          </a:bodyPr>
          <a:lstStyle/>
          <a:p>
            <a:r>
              <a:rPr lang="en-GB" sz="4000" u="sng">
                <a:solidFill>
                  <a:schemeClr val="bg1"/>
                </a:solidFill>
                <a:latin typeface="Times New Roman"/>
                <a:cs typeface="Times New Roman"/>
              </a:rPr>
              <a:t>Dataset Details: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F450F-EC26-D94F-4322-8991C110D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-111931"/>
            <a:ext cx="12191999" cy="696288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Roboto"/>
                <a:cs typeface="Times New Roman"/>
              </a:rPr>
              <a:t>4)</a:t>
            </a:r>
            <a:r>
              <a:rPr lang="en-GB" sz="7200" b="1" err="1">
                <a:solidFill>
                  <a:schemeClr val="tx2">
                    <a:lumMod val="10000"/>
                  </a:schemeClr>
                </a:solidFill>
                <a:latin typeface="Times New Roman"/>
                <a:ea typeface="Roboto"/>
                <a:cs typeface="Times New Roman"/>
              </a:rPr>
              <a:t>diastolic_bp</a:t>
            </a: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Roboto"/>
                <a:cs typeface="Times New Roman"/>
              </a:rPr>
              <a:t>: (normal range: lower than 80mmHg). It is the pressure in the arteries when the heart rests between beats. </a:t>
            </a:r>
            <a:endParaRPr lang="en-US" sz="7200">
              <a:solidFill>
                <a:schemeClr val="tx2">
                  <a:lumMod val="10000"/>
                </a:schemeClr>
              </a:solidFill>
              <a:latin typeface="Times New Roman"/>
              <a:ea typeface="Roboto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Roboto"/>
                <a:cs typeface="Times New Roman"/>
              </a:rPr>
              <a:t>This is the time when the heart fills with blood and gets oxygen.</a:t>
            </a: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chemeClr val="tx2">
                    <a:lumMod val="10000"/>
                  </a:schemeClr>
                </a:solidFill>
                <a:latin typeface="Times New Roman"/>
                <a:ea typeface="Roboto"/>
                <a:cs typeface="Times New Roman"/>
              </a:rPr>
              <a:t>– Diastolic blood pressure (lower value in a BP reading).</a:t>
            </a:r>
            <a:endParaRPr lang="en-US" sz="7200">
              <a:solidFill>
                <a:schemeClr val="tx2">
                  <a:lumMod val="10000"/>
                </a:schemeClr>
              </a:solidFill>
              <a:latin typeface="Times New Roman"/>
              <a:ea typeface="Roboto"/>
              <a:cs typeface="Times New Roman"/>
            </a:endParaRPr>
          </a:p>
          <a:p>
            <a:endParaRPr lang="en-GB" sz="3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GB" sz="8000">
                <a:solidFill>
                  <a:schemeClr val="bg1"/>
                </a:solidFill>
                <a:latin typeface="Times New Roman"/>
                <a:ea typeface="Roboto"/>
                <a:cs typeface="Roboto"/>
              </a:rPr>
              <a:t>5)</a:t>
            </a:r>
            <a:r>
              <a:rPr lang="en-GB" sz="8000" b="1">
                <a:solidFill>
                  <a:schemeClr val="bg1"/>
                </a:solidFill>
                <a:latin typeface="Times New Roman"/>
                <a:ea typeface="Roboto"/>
                <a:cs typeface="Roboto"/>
              </a:rPr>
              <a:t>cholesterol</a:t>
            </a:r>
            <a:r>
              <a:rPr lang="en-GB" sz="8000">
                <a:solidFill>
                  <a:schemeClr val="bg1"/>
                </a:solidFill>
                <a:latin typeface="Times New Roman"/>
                <a:ea typeface="Roboto"/>
                <a:cs typeface="Roboto"/>
              </a:rPr>
              <a:t>: (normal range: between 125 and 200 mg/dl). </a:t>
            </a:r>
            <a:endParaRPr lang="en-US" sz="8000">
              <a:solidFill>
                <a:schemeClr val="bg1"/>
              </a:solidFill>
              <a:latin typeface="Times New Roman"/>
              <a:ea typeface="Roboto"/>
              <a:cs typeface="Roboto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GB" sz="8000">
                <a:solidFill>
                  <a:schemeClr val="bg1"/>
                </a:solidFill>
                <a:latin typeface="Times New Roman"/>
                <a:ea typeface="Roboto"/>
                <a:cs typeface="Roboto"/>
              </a:rPr>
              <a:t>It is a waxy, fat-like substance found in every cell in the body.</a:t>
            </a:r>
            <a:endParaRPr lang="en-US" sz="8000">
              <a:solidFill>
                <a:schemeClr val="bg1"/>
              </a:solidFill>
              <a:latin typeface="Times New Roman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br>
              <a:rPr lang="en-US" sz="2400"/>
            </a:br>
            <a:r>
              <a:rPr lang="en-GB" sz="72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6)</a:t>
            </a:r>
            <a:r>
              <a:rPr lang="en-GB" sz="72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prognosis</a:t>
            </a:r>
            <a:r>
              <a:rPr lang="en-GB" sz="72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: The likely outcome or course of a disease.(0 or 1) (Target)</a:t>
            </a:r>
            <a:endParaRPr lang="en-GB">
              <a:solidFill>
                <a:schemeClr val="bg1"/>
              </a:solidFill>
              <a:latin typeface="Arial Nova Cond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GB" sz="72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It is 1 if the patient has retinopathy and 0 if he/she doesn't.</a:t>
            </a:r>
            <a:endParaRPr lang="en-GB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</a:pPr>
            <a:endParaRPr lang="en-GB" sz="8000">
              <a:solidFill>
                <a:schemeClr val="bg1"/>
              </a:solidFill>
              <a:latin typeface="Times New Roman"/>
              <a:ea typeface="Roboto"/>
              <a:cs typeface="Roboto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sz="8000" b="1">
                <a:solidFill>
                  <a:schemeClr val="bg1"/>
                </a:solidFill>
                <a:latin typeface="Times New Roman"/>
                <a:ea typeface="Roboto"/>
                <a:cs typeface="Roboto"/>
              </a:rPr>
              <a:t>The main challenges:</a:t>
            </a:r>
            <a:endParaRPr lang="en-GB" sz="8000" b="1">
              <a:solidFill>
                <a:schemeClr val="bg1"/>
              </a:solidFill>
              <a:latin typeface="Times New Roman"/>
              <a:ea typeface="Roboto"/>
              <a:cs typeface="Roboto"/>
            </a:endParaRPr>
          </a:p>
          <a:p>
            <a:pPr marL="285750" indent="-2857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</a:pPr>
            <a:r>
              <a:rPr lang="en-GB" sz="72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Values stored together in a single column separated by “;”.</a:t>
            </a:r>
            <a:endParaRPr lang="en-GB" sz="7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</a:pPr>
            <a:r>
              <a:rPr lang="en-GB" sz="72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Incorrect data types for several variables.</a:t>
            </a:r>
            <a:endParaRPr lang="en-GB" sz="7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 sz="1800">
              <a:solidFill>
                <a:srgbClr val="000000"/>
              </a:solidFill>
            </a:endParaRPr>
          </a:p>
          <a:p>
            <a:endParaRPr lang="en-GB" sz="1800">
              <a:solidFill>
                <a:srgbClr val="000000"/>
              </a:solidFill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r>
              <a:rPr lang="en-GB" sz="1800">
                <a:solidFill>
                  <a:srgbClr val="FFFFFF"/>
                </a:solidFill>
                <a:latin typeface="Arial Nova Cond"/>
                <a:ea typeface="Roboto"/>
                <a:cs typeface="Roboto"/>
              </a:rPr>
              <a:t>Th</a:t>
            </a:r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n-GB" sz="18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br>
              <a:rPr lang="en-US"/>
            </a:br>
            <a:endParaRPr lang="en-US" sz="7200"/>
          </a:p>
          <a:p>
            <a:pPr>
              <a:lnSpc>
                <a:spcPct val="70000"/>
              </a:lnSpc>
            </a:pPr>
            <a:br>
              <a:rPr lang="en-US"/>
            </a:br>
            <a:endParaRPr lang="en-US"/>
          </a:p>
          <a:p>
            <a:pPr>
              <a:lnSpc>
                <a:spcPct val="70000"/>
              </a:lnSpc>
            </a:pPr>
            <a:endParaRPr lang="en-GB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70000"/>
              </a:lnSpc>
            </a:pPr>
            <a:br>
              <a:rPr lang="en-US"/>
            </a:br>
            <a:endParaRPr lang="en-US"/>
          </a:p>
          <a:p>
            <a:pPr>
              <a:lnSpc>
                <a:spcPct val="7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501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6CCD4-BC6E-DAC2-26EA-895A3DA2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9DACFB-EAEE-E799-21B6-C4477F9EC9D7}"/>
              </a:ext>
            </a:extLst>
          </p:cNvPr>
          <p:cNvSpPr txBox="1"/>
          <p:nvPr/>
        </p:nvSpPr>
        <p:spPr>
          <a:xfrm>
            <a:off x="-5750" y="-5749"/>
            <a:ext cx="10550104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Exploratory Data Analysis:</a:t>
            </a:r>
            <a:endParaRPr lang="en-US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Ø"/>
            </a:pPr>
            <a:r>
              <a:rPr lang="en-US" b="1">
                <a:solidFill>
                  <a:schemeClr val="bg1"/>
                </a:solidFill>
              </a:rPr>
              <a:t>Loading the dataset :</a:t>
            </a:r>
          </a:p>
          <a:p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2B0858-9527-C9D2-3ACC-C508869BE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2" t="22059" r="55378" b="15126"/>
          <a:stretch>
            <a:fillRect/>
          </a:stretch>
        </p:blipFill>
        <p:spPr>
          <a:xfrm>
            <a:off x="886403" y="1353145"/>
            <a:ext cx="9656944" cy="489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9596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E5E79-8BED-CF6A-506E-963E75DB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C105A4-9425-6C76-AC08-B933404F421B}"/>
              </a:ext>
            </a:extLst>
          </p:cNvPr>
          <p:cNvSpPr txBox="1"/>
          <p:nvPr/>
        </p:nvSpPr>
        <p:spPr>
          <a:xfrm>
            <a:off x="-4109" y="-3816"/>
            <a:ext cx="11002201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</a:rPr>
              <a:t> Separating the values using ';' :</a:t>
            </a:r>
            <a:endParaRPr lang="en-US"/>
          </a:p>
          <a:p>
            <a:endParaRPr lang="en-GB">
              <a:solidFill>
                <a:schemeClr val="bg1"/>
              </a:solidFill>
            </a:endParaRPr>
          </a:p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0B8E2B-1208-4EC4-6B88-7909AE33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6" t="23368" r="21267" b="40092"/>
          <a:stretch>
            <a:fillRect/>
          </a:stretch>
        </p:blipFill>
        <p:spPr>
          <a:xfrm>
            <a:off x="6431" y="921825"/>
            <a:ext cx="10995249" cy="484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9936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2F908-E3E5-986F-8694-F73D94E9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45B826-6541-6F27-844B-D79506DAB83E}"/>
              </a:ext>
            </a:extLst>
          </p:cNvPr>
          <p:cNvSpPr txBox="1"/>
          <p:nvPr/>
        </p:nvSpPr>
        <p:spPr>
          <a:xfrm>
            <a:off x="1597" y="1598"/>
            <a:ext cx="12190720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Converting the datatypes:</a:t>
            </a:r>
            <a:endParaRPr lang="en-US">
              <a:solidFill>
                <a:schemeClr val="bg1"/>
              </a:solidFill>
            </a:endParaRPr>
          </a:p>
          <a:p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CBFED4-B316-14A0-CC47-EB8A0144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24856" r="4723" b="8169"/>
          <a:stretch>
            <a:fillRect/>
          </a:stretch>
        </p:blipFill>
        <p:spPr>
          <a:xfrm>
            <a:off x="0" y="924684"/>
            <a:ext cx="12190736" cy="591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7814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F45BD-C1DD-D77A-647E-018EF938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B0F43A-62CF-D9A8-3DFD-25938F85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4F0E54-F222-021F-4CD9-BF1A1E0D2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2" t="27311" r="17710" b="23739"/>
          <a:stretch>
            <a:fillRect/>
          </a:stretch>
        </p:blipFill>
        <p:spPr>
          <a:xfrm>
            <a:off x="655" y="1381900"/>
            <a:ext cx="12188078" cy="3987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E96067-E52E-34DD-85BF-1F9694B505C3}"/>
              </a:ext>
            </a:extLst>
          </p:cNvPr>
          <p:cNvSpPr txBox="1"/>
          <p:nvPr/>
        </p:nvSpPr>
        <p:spPr>
          <a:xfrm>
            <a:off x="4154" y="184030"/>
            <a:ext cx="12186567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Checking for missing values:</a:t>
            </a:r>
            <a:endParaRPr lang="en-US"/>
          </a:p>
          <a:p>
            <a:endParaRPr lang="en-GB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</a:rPr>
              <a:t>There were no missing values present in the dataset.</a:t>
            </a:r>
          </a:p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34795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11666-63B5-7AA4-C4B6-FB58A334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BC00EF-E352-8D71-AE70-75C6C858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7FF3B-717C-FA4A-42EE-D647BB88A218}"/>
              </a:ext>
            </a:extLst>
          </p:cNvPr>
          <p:cNvSpPr txBox="1"/>
          <p:nvPr/>
        </p:nvSpPr>
        <p:spPr>
          <a:xfrm>
            <a:off x="4154" y="184030"/>
            <a:ext cx="12186567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Checking for Duplicate rows:</a:t>
            </a:r>
            <a:endParaRPr lang="en-US"/>
          </a:p>
          <a:p>
            <a:endParaRPr lang="en-GB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</a:rPr>
              <a:t>There were no duplicate rows present in the dataset.</a:t>
            </a:r>
          </a:p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93155F0-8715-D405-B5E1-CB72A4AD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0" t="39076" r="-150" b="32353"/>
          <a:stretch>
            <a:fillRect/>
          </a:stretch>
        </p:blipFill>
        <p:spPr>
          <a:xfrm>
            <a:off x="-3232" y="1381900"/>
            <a:ext cx="12198404" cy="272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4927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85942-11C4-284F-A607-AB941E15E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3FBA6E-8A20-5F92-6A1D-2AC0D3B29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39BB3-DDE1-42E0-D44B-967A6E5E7416}"/>
              </a:ext>
            </a:extLst>
          </p:cNvPr>
          <p:cNvSpPr txBox="1"/>
          <p:nvPr/>
        </p:nvSpPr>
        <p:spPr>
          <a:xfrm>
            <a:off x="4154" y="543464"/>
            <a:ext cx="12186567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Dropping ID:</a:t>
            </a:r>
            <a:endParaRPr lang="en-US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As ID is a unique identifier and has no predictive value we're dropping it.</a:t>
            </a:r>
            <a:endParaRPr lang="en-GB">
              <a:solidFill>
                <a:schemeClr val="bg1"/>
              </a:solidFill>
            </a:endParaRPr>
          </a:p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C924A8-4F7E-7F68-F242-896521A5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0" t="20075" r="4965" b="43487"/>
          <a:stretch>
            <a:fillRect/>
          </a:stretch>
        </p:blipFill>
        <p:spPr>
          <a:xfrm>
            <a:off x="290" y="1461788"/>
            <a:ext cx="12189755" cy="36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1480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1998B-40FD-EB84-ED1B-140B695D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6314B8-71C7-CF1E-DB94-7004B953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C5259-D335-00BB-91DB-C0282F9E7E7D}"/>
              </a:ext>
            </a:extLst>
          </p:cNvPr>
          <p:cNvSpPr txBox="1"/>
          <p:nvPr/>
        </p:nvSpPr>
        <p:spPr>
          <a:xfrm>
            <a:off x="4154" y="543464"/>
            <a:ext cx="12186567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Data Statistics for numerical columns:</a:t>
            </a:r>
            <a:endParaRPr lang="en-GB">
              <a:solidFill>
                <a:schemeClr val="bg1"/>
              </a:solidFill>
            </a:endParaRPr>
          </a:p>
          <a:p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EE9A4B-8321-72A1-6C6A-B921ECDDD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5" t="31957" r="22046" b="37791"/>
          <a:stretch>
            <a:fillRect/>
          </a:stretch>
        </p:blipFill>
        <p:spPr>
          <a:xfrm>
            <a:off x="862932" y="1698202"/>
            <a:ext cx="10236408" cy="3137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4801BE-FE8E-51FE-31B4-6EC1F4C61345}"/>
              </a:ext>
            </a:extLst>
          </p:cNvPr>
          <p:cNvSpPr txBox="1"/>
          <p:nvPr/>
        </p:nvSpPr>
        <p:spPr>
          <a:xfrm rot="10800000" flipV="1">
            <a:off x="699183" y="5096892"/>
            <a:ext cx="105788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>
                <a:solidFill>
                  <a:schemeClr val="bg2"/>
                </a:solidFill>
              </a:rPr>
              <a:t>Age and all clinical parameters have </a:t>
            </a:r>
            <a:r>
              <a:rPr lang="en-US" b="1">
                <a:solidFill>
                  <a:schemeClr val="bg2"/>
                </a:solidFill>
              </a:rPr>
              <a:t>close mean and median values</a:t>
            </a:r>
            <a:r>
              <a:rPr lang="en-US">
                <a:solidFill>
                  <a:schemeClr val="bg2"/>
                </a:solidFill>
              </a:rPr>
              <a:t>, indicating near-symmetrical distributions.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solidFill>
                  <a:schemeClr val="bg2"/>
                </a:solidFill>
              </a:rPr>
              <a:t>Standard deviations are relatively small, suggesting low variability within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68906469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9B54A-DD7B-D0C3-C311-186A7E2E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09EF69-9CCD-B9CA-D5E1-09AFDB40C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E53E9-C4D5-6A4C-7DC3-1C1F4BEF558C}"/>
              </a:ext>
            </a:extLst>
          </p:cNvPr>
          <p:cNvSpPr txBox="1"/>
          <p:nvPr/>
        </p:nvSpPr>
        <p:spPr>
          <a:xfrm>
            <a:off x="4154" y="543464"/>
            <a:ext cx="12186567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Skewness of the numerical columns:</a:t>
            </a: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4E4E4F-075A-8EE3-2EB9-3AB7E31B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4" t="58613" r="41438" b="23950"/>
          <a:stretch>
            <a:fillRect/>
          </a:stretch>
        </p:blipFill>
        <p:spPr>
          <a:xfrm>
            <a:off x="1940942" y="1281258"/>
            <a:ext cx="7829436" cy="266174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AAD68-4F1A-7739-B5D9-7A938E290A71}"/>
              </a:ext>
            </a:extLst>
          </p:cNvPr>
          <p:cNvSpPr txBox="1"/>
          <p:nvPr/>
        </p:nvSpPr>
        <p:spPr>
          <a:xfrm>
            <a:off x="353684" y="4609381"/>
            <a:ext cx="1184406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000">
                <a:solidFill>
                  <a:schemeClr val="bg1"/>
                </a:solidFill>
                <a:latin typeface="Times New Roman"/>
                <a:cs typeface="Times New Roman"/>
              </a:rPr>
              <a:t>Skewness values for all numerical columns  are close to zero which indicating the data is nearly symmetric and follow normal distribution.</a:t>
            </a:r>
          </a:p>
          <a:p>
            <a:pPr algn="ctr"/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472615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5BA73-0678-0A87-3C33-86DEA9EE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F0DEEB-CD6C-1D90-1666-B7515DD4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FDA16-AC9D-CEFF-8CA2-1CDE73742D78}"/>
              </a:ext>
            </a:extLst>
          </p:cNvPr>
          <p:cNvSpPr txBox="1"/>
          <p:nvPr/>
        </p:nvSpPr>
        <p:spPr>
          <a:xfrm>
            <a:off x="4154" y="543464"/>
            <a:ext cx="12186567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 Distribution of Prognosis:</a:t>
            </a:r>
            <a:endParaRPr lang="en-US"/>
          </a:p>
          <a:p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" name="Picture 1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5D30D079-8F0E-443B-2FC2-B6F5FF870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955" y="1471074"/>
            <a:ext cx="7615865" cy="46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41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0CC3A-C37D-86D0-F1B7-A883C64F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141333-0EBA-B97B-4994-F9514ACD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02D2B-B545-5F39-29DA-839DDBE7C330}"/>
              </a:ext>
            </a:extLst>
          </p:cNvPr>
          <p:cNvSpPr txBox="1"/>
          <p:nvPr/>
        </p:nvSpPr>
        <p:spPr>
          <a:xfrm>
            <a:off x="4154" y="-2876"/>
            <a:ext cx="12186567" cy="923330"/>
          </a:xfrm>
          <a:prstGeom prst="rect">
            <a:avLst/>
          </a:prstGeom>
          <a:solidFill>
            <a:srgbClr val="19D4BB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Histogram:</a:t>
            </a:r>
            <a:endParaRPr lang="en-GB">
              <a:solidFill>
                <a:schemeClr val="bg1"/>
              </a:solidFill>
            </a:endParaRPr>
          </a:p>
          <a:p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 descr="A graph of a number of age&#10;&#10;AI-generated content may be incorrect.">
            <a:extLst>
              <a:ext uri="{FF2B5EF4-FFF2-40B4-BE49-F238E27FC236}">
                <a16:creationId xmlns:a16="http://schemas.microsoft.com/office/drawing/2014/main" id="{18D38C2D-E1A1-2B5B-17BF-F7A7BCC8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25" y="1111460"/>
            <a:ext cx="5268404" cy="4635081"/>
          </a:xfrm>
          <a:prstGeom prst="rect">
            <a:avLst/>
          </a:prstGeom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CEA252EC-DB00-4F39-DB17-70815FA6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402" y="1111461"/>
            <a:ext cx="5182139" cy="4635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B5F991-D98B-CD01-71EA-CF49406E07BA}"/>
              </a:ext>
            </a:extLst>
          </p:cNvPr>
          <p:cNvSpPr txBox="1"/>
          <p:nvPr/>
        </p:nvSpPr>
        <p:spPr>
          <a:xfrm>
            <a:off x="612476" y="5759569"/>
            <a:ext cx="10837651" cy="6385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1350"/>
              </a:lnSpc>
              <a:buFont typeface=""/>
              <a:buChar char="•"/>
            </a:pPr>
            <a:r>
              <a:rPr lang="en-US" b="1">
                <a:solidFill>
                  <a:srgbClr val="131523"/>
                </a:solidFill>
                <a:cs typeface="Arial"/>
              </a:rPr>
              <a:t>Age:</a:t>
            </a:r>
            <a:r>
              <a:rPr lang="en-US">
                <a:solidFill>
                  <a:srgbClr val="131523"/>
                </a:solidFill>
                <a:cs typeface="Arial"/>
              </a:rPr>
              <a:t> Mostly between 50–70 years; slightly right-skewed.</a:t>
            </a:r>
            <a:r>
              <a:rPr lang="en-US">
                <a:cs typeface="Arial"/>
              </a:rPr>
              <a:t>​</a:t>
            </a:r>
          </a:p>
          <a:p>
            <a:pPr marL="228600" indent="-228600">
              <a:lnSpc>
                <a:spcPts val="1350"/>
              </a:lnSpc>
              <a:buFont typeface=""/>
              <a:buChar char="•"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 marL="228600" indent="-228600">
              <a:lnSpc>
                <a:spcPts val="1350"/>
              </a:lnSpc>
              <a:buFont typeface=""/>
              <a:buChar char="•"/>
            </a:pPr>
            <a:r>
              <a:rPr lang="en-US" b="1">
                <a:solidFill>
                  <a:srgbClr val="131523"/>
                </a:solidFill>
                <a:ea typeface="+mn-lt"/>
                <a:cs typeface="+mn-lt"/>
              </a:rPr>
              <a:t>Systolic BP:</a:t>
            </a:r>
            <a:r>
              <a:rPr lang="en-US">
                <a:solidFill>
                  <a:srgbClr val="131523"/>
                </a:solidFill>
                <a:ea typeface="+mn-lt"/>
                <a:cs typeface="+mn-lt"/>
              </a:rPr>
              <a:t> Nearly normal distribution, centered ~100 mmHg.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7758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E1FBB-B774-F54D-2E38-11DFD776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6F7336-58F3-2603-072B-AE41C3F1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7" y="365785"/>
            <a:ext cx="10811773" cy="5787726"/>
          </a:xfrm>
        </p:spPr>
        <p:txBody>
          <a:bodyPr>
            <a:normAutofit/>
          </a:bodyPr>
          <a:lstStyle/>
          <a:p>
            <a:r>
              <a:rPr lang="en-GB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B8913-2B0F-5D39-50A0-90C87A659652}"/>
              </a:ext>
            </a:extLst>
          </p:cNvPr>
          <p:cNvSpPr txBox="1"/>
          <p:nvPr/>
        </p:nvSpPr>
        <p:spPr>
          <a:xfrm>
            <a:off x="4154" y="11501"/>
            <a:ext cx="12186567" cy="923330"/>
          </a:xfrm>
          <a:prstGeom prst="rect">
            <a:avLst/>
          </a:prstGeom>
          <a:solidFill>
            <a:srgbClr val="19D4BB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1"/>
                </a:solidFill>
                <a:latin typeface="Times New Roman"/>
                <a:cs typeface="Times New Roman"/>
              </a:rPr>
              <a:t>Histogram:</a:t>
            </a:r>
          </a:p>
          <a:p>
            <a:endParaRPr lang="en-GB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2" name="Picture 1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0561C9DD-0565-94A0-ABA2-2C28081C7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" y="924554"/>
            <a:ext cx="5599083" cy="4534439"/>
          </a:xfrm>
          <a:prstGeom prst="rect">
            <a:avLst/>
          </a:prstGeom>
        </p:spPr>
      </p:pic>
      <p:pic>
        <p:nvPicPr>
          <p:cNvPr id="7" name="Picture 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8DF08029-2D14-4E43-AB7F-F6987EE29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062" y="924554"/>
            <a:ext cx="5958518" cy="4678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1865D1-581E-6D97-34EA-91FB7A8F1C7D}"/>
              </a:ext>
            </a:extLst>
          </p:cNvPr>
          <p:cNvSpPr txBox="1"/>
          <p:nvPr/>
        </p:nvSpPr>
        <p:spPr>
          <a:xfrm>
            <a:off x="8627" y="5615797"/>
            <a:ext cx="12088480" cy="836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827"/>
              </a:lnSpc>
              <a:buFont typeface=""/>
              <a:buChar char="•"/>
            </a:pPr>
            <a:r>
              <a:rPr lang="en-US" b="1">
                <a:solidFill>
                  <a:srgbClr val="131523"/>
                </a:solidFill>
                <a:cs typeface="Arial"/>
              </a:rPr>
              <a:t>Diastolic BP:</a:t>
            </a:r>
            <a:r>
              <a:rPr lang="en-US">
                <a:solidFill>
                  <a:srgbClr val="131523"/>
                </a:solidFill>
                <a:cs typeface="Arial"/>
              </a:rPr>
              <a:t> Symmetrical, centered around 95–105 mmHg.</a:t>
            </a:r>
            <a:r>
              <a:rPr lang="en-US">
                <a:cs typeface="Arial"/>
              </a:rPr>
              <a:t>​​</a:t>
            </a:r>
          </a:p>
          <a:p>
            <a:pPr marL="228600" indent="-228600">
              <a:lnSpc>
                <a:spcPts val="827"/>
              </a:lnSpc>
              <a:buFont typeface=""/>
              <a:buChar char="•"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 marL="228600" indent="-228600">
              <a:lnSpc>
                <a:spcPts val="827"/>
              </a:lnSpc>
              <a:buFont typeface=""/>
              <a:buChar char="•"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 marL="228600" indent="-228600">
              <a:lnSpc>
                <a:spcPts val="827"/>
              </a:lnSpc>
              <a:buFont typeface=""/>
              <a:buChar char="•"/>
            </a:pPr>
            <a:r>
              <a:rPr lang="en-US" b="1">
                <a:solidFill>
                  <a:srgbClr val="131523"/>
                </a:solidFill>
                <a:cs typeface="Arial"/>
              </a:rPr>
              <a:t>Cholesterol:</a:t>
            </a:r>
            <a:r>
              <a:rPr lang="en-US">
                <a:solidFill>
                  <a:srgbClr val="131523"/>
                </a:solidFill>
                <a:cs typeface="Arial"/>
              </a:rPr>
              <a:t> Bell-shaped, mostly between 90–110 mg/dL.</a:t>
            </a:r>
            <a:r>
              <a:rPr lang="en-US">
                <a:cs typeface="Arial"/>
              </a:rPr>
              <a:t>​​</a:t>
            </a:r>
          </a:p>
          <a:p>
            <a:pPr marL="228600" indent="-228600">
              <a:lnSpc>
                <a:spcPts val="827"/>
              </a:lnSpc>
              <a:buFont typeface=""/>
              <a:buChar char="•"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 marL="228600" indent="-228600">
              <a:lnSpc>
                <a:spcPts val="827"/>
              </a:lnSpc>
              <a:buFont typeface=""/>
              <a:buChar char="•"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 marL="228600" indent="-228600">
              <a:lnSpc>
                <a:spcPts val="827"/>
              </a:lnSpc>
              <a:buFont typeface=""/>
              <a:buChar char="•"/>
            </a:pPr>
            <a:r>
              <a:rPr lang="en-US">
                <a:solidFill>
                  <a:srgbClr val="131523"/>
                </a:solidFill>
                <a:cs typeface="Arial"/>
              </a:rPr>
              <a:t>All variables show near-normal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95015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3C2B9-FC56-1446-765E-97D241B8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AE6CDEF-FA9D-77C8-0451-5CC32BE2D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7" y="180975"/>
            <a:ext cx="6711531" cy="6496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806035-72AB-589B-A0CE-7A0A15A479AB}"/>
              </a:ext>
            </a:extLst>
          </p:cNvPr>
          <p:cNvSpPr txBox="1"/>
          <p:nvPr/>
        </p:nvSpPr>
        <p:spPr>
          <a:xfrm>
            <a:off x="7135643" y="327165"/>
            <a:ext cx="4624716" cy="5816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solidFill>
                <a:schemeClr val="bg2"/>
              </a:solidFill>
            </a:endParaRPr>
          </a:p>
          <a:p>
            <a:r>
              <a:rPr lang="en-GB" sz="2400" b="1" i="1" u="sng">
                <a:solidFill>
                  <a:schemeClr val="bg2"/>
                </a:solidFill>
                <a:ea typeface="+mn-lt"/>
                <a:cs typeface="+mn-lt"/>
              </a:rPr>
              <a:t>Correlation Heatmap:</a:t>
            </a:r>
          </a:p>
          <a:p>
            <a:pPr marL="285750" indent="-285750">
              <a:buFont typeface="Arial"/>
              <a:buChar char="•"/>
            </a:pP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Age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 shows almost no correlation with other numerical variables.</a:t>
            </a:r>
            <a:endParaRPr lang="en-GB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Systolic BP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 and </a:t>
            </a: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Diastolic BP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 have a moderate positive correlation (</a:t>
            </a: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0.41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).</a:t>
            </a:r>
            <a:endParaRPr lang="en-GB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Systolic BP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 and </a:t>
            </a: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Cholesterol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 also show moderate correlation (</a:t>
            </a: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0.41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).</a:t>
            </a:r>
            <a:endParaRPr lang="en-GB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Diastolic BP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 and </a:t>
            </a: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Cholesterol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 have a moderate correlation (</a:t>
            </a:r>
            <a:r>
              <a:rPr lang="en-GB" sz="2400" b="1">
                <a:solidFill>
                  <a:schemeClr val="bg2"/>
                </a:solidFill>
                <a:ea typeface="+mn-lt"/>
                <a:cs typeface="+mn-lt"/>
              </a:rPr>
              <a:t>0.40</a:t>
            </a: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).</a:t>
            </a:r>
            <a:endParaRPr lang="en-GB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400">
                <a:solidFill>
                  <a:schemeClr val="bg2"/>
                </a:solidFill>
                <a:ea typeface="+mn-lt"/>
                <a:cs typeface="+mn-lt"/>
              </a:rPr>
              <a:t>No strong multicollinearity is detected.</a:t>
            </a:r>
            <a:endParaRPr lang="en-GB" sz="2400">
              <a:solidFill>
                <a:schemeClr val="bg2"/>
              </a:solidFill>
            </a:endParaRPr>
          </a:p>
          <a:p>
            <a:endParaRPr lang="en-GB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193366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8A4FB-9502-F329-ED24-E4895518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dots on a white background&#10;&#10;AI-generated content may be incorrect.">
            <a:extLst>
              <a:ext uri="{FF2B5EF4-FFF2-40B4-BE49-F238E27FC236}">
                <a16:creationId xmlns:a16="http://schemas.microsoft.com/office/drawing/2014/main" id="{DBBDAAF9-3887-DC64-9CBA-707D5A81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9" y="0"/>
            <a:ext cx="740075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525562-B11D-0E7C-47B5-7BAFC53F8C67}"/>
              </a:ext>
            </a:extLst>
          </p:cNvPr>
          <p:cNvSpPr txBox="1"/>
          <p:nvPr/>
        </p:nvSpPr>
        <p:spPr>
          <a:xfrm>
            <a:off x="7736617" y="365824"/>
            <a:ext cx="4171350" cy="6494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u="sng">
                <a:solidFill>
                  <a:schemeClr val="bg2"/>
                </a:solidFill>
              </a:rPr>
              <a:t>Pair Plots:</a:t>
            </a:r>
          </a:p>
          <a:p>
            <a:pPr>
              <a:buFont typeface="Arial"/>
              <a:buChar char="•"/>
            </a:pPr>
            <a:r>
              <a:rPr lang="en-GB" sz="2000" b="1">
                <a:solidFill>
                  <a:schemeClr val="bg2"/>
                </a:solidFill>
              </a:rPr>
              <a:t>Age</a:t>
            </a:r>
            <a:r>
              <a:rPr lang="en-GB" sz="2000" b="1">
                <a:solidFill>
                  <a:schemeClr val="bg2"/>
                </a:solidFill>
                <a:ea typeface="+mn-lt"/>
                <a:cs typeface="+mn-lt"/>
              </a:rPr>
              <a:t> Distribution:</a:t>
            </a:r>
            <a:r>
              <a:rPr lang="en-GB" sz="2000">
                <a:solidFill>
                  <a:schemeClr val="bg2"/>
                </a:solidFill>
                <a:ea typeface="+mn-lt"/>
                <a:cs typeface="+mn-lt"/>
              </a:rPr>
              <a:t> Both groups  have overlapping age ranges, with a slightly higher age concentration for retinopathy cases.</a:t>
            </a:r>
            <a:endParaRPr lang="en-US" sz="20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r>
              <a:rPr lang="en-GB" sz="2000" b="1">
                <a:solidFill>
                  <a:schemeClr val="bg2"/>
                </a:solidFill>
                <a:ea typeface="+mn-lt"/>
                <a:cs typeface="+mn-lt"/>
              </a:rPr>
              <a:t>Systolic &amp; Diastolic BP Relationship:</a:t>
            </a:r>
            <a:r>
              <a:rPr lang="en-GB" sz="2000">
                <a:solidFill>
                  <a:schemeClr val="bg2"/>
                </a:solidFill>
                <a:ea typeface="+mn-lt"/>
                <a:cs typeface="+mn-lt"/>
              </a:rPr>
              <a:t>  higher systolic blood pressure generally comes with higher diastolic pressure, regardless of prognosis.</a:t>
            </a:r>
            <a:endParaRPr lang="en-GB" sz="20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r>
              <a:rPr lang="en-GB" sz="2000" b="1">
                <a:solidFill>
                  <a:schemeClr val="bg2"/>
                </a:solidFill>
                <a:ea typeface="+mn-lt"/>
                <a:cs typeface="+mn-lt"/>
              </a:rPr>
              <a:t>Blood Pressure &amp; Cholesterol:</a:t>
            </a:r>
            <a:r>
              <a:rPr lang="en-GB" sz="2000">
                <a:solidFill>
                  <a:schemeClr val="bg2"/>
                </a:solidFill>
                <a:ea typeface="+mn-lt"/>
                <a:cs typeface="+mn-lt"/>
              </a:rPr>
              <a:t> Slight positive trend between BP (both systolic and diastolic) and cholesterol, more noticeable in the retinopathy group.</a:t>
            </a:r>
            <a:endParaRPr lang="en-GB" sz="20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r>
              <a:rPr lang="en-GB" sz="2000" b="1">
                <a:solidFill>
                  <a:schemeClr val="bg2"/>
                </a:solidFill>
                <a:ea typeface="+mn-lt"/>
                <a:cs typeface="+mn-lt"/>
              </a:rPr>
              <a:t>Cholesterol Distribution:</a:t>
            </a:r>
            <a:r>
              <a:rPr lang="en-GB" sz="2000">
                <a:solidFill>
                  <a:schemeClr val="bg2"/>
                </a:solidFill>
                <a:ea typeface="+mn-lt"/>
                <a:cs typeface="+mn-lt"/>
              </a:rPr>
              <a:t> Retinopathy patients tend to have slightly higher cholesterol levels than non-retinopathy patients.</a:t>
            </a:r>
            <a:endParaRPr lang="en-GB" sz="20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GB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GB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68266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A186A-18F9-333A-AAB3-5D1C504B9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bar&#10;&#10;AI-generated content may be incorrect.">
            <a:extLst>
              <a:ext uri="{FF2B5EF4-FFF2-40B4-BE49-F238E27FC236}">
                <a16:creationId xmlns:a16="http://schemas.microsoft.com/office/drawing/2014/main" id="{273C683C-C937-0360-1D94-AAE113F42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29" y="674209"/>
            <a:ext cx="4233234" cy="2763509"/>
          </a:xfrm>
          <a:prstGeom prst="rect">
            <a:avLst/>
          </a:prstGeom>
        </p:spPr>
      </p:pic>
      <p:pic>
        <p:nvPicPr>
          <p:cNvPr id="3" name="Picture 2" descr="A blu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3853C8A1-A904-A51B-ED3C-BD8F1A9C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269" y="674209"/>
            <a:ext cx="4952101" cy="2892905"/>
          </a:xfrm>
          <a:prstGeom prst="rect">
            <a:avLst/>
          </a:prstGeom>
        </p:spPr>
      </p:pic>
      <p:pic>
        <p:nvPicPr>
          <p:cNvPr id="5" name="Picture 4" descr="A blu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72656519-1D90-4EDE-62AA-9D5E58F32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28" y="3851605"/>
            <a:ext cx="4233234" cy="2763509"/>
          </a:xfrm>
          <a:prstGeom prst="rect">
            <a:avLst/>
          </a:prstGeom>
        </p:spPr>
      </p:pic>
      <p:pic>
        <p:nvPicPr>
          <p:cNvPr id="6" name="Picture 5" descr="A diagram of a bar&#10;&#10;AI-generated content may be incorrect.">
            <a:extLst>
              <a:ext uri="{FF2B5EF4-FFF2-40B4-BE49-F238E27FC236}">
                <a16:creationId xmlns:a16="http://schemas.microsoft.com/office/drawing/2014/main" id="{F69C4F01-E492-54F1-3A20-24DB61845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270" y="3851605"/>
            <a:ext cx="4952101" cy="28929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48EDD2-0343-3A26-77EB-734FEF74C517}"/>
              </a:ext>
            </a:extLst>
          </p:cNvPr>
          <p:cNvSpPr txBox="1"/>
          <p:nvPr/>
        </p:nvSpPr>
        <p:spPr>
          <a:xfrm>
            <a:off x="373224" y="204510"/>
            <a:ext cx="5703410" cy="449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A3279-8B3B-9BEE-CE6B-D0ED79BDD210}"/>
              </a:ext>
            </a:extLst>
          </p:cNvPr>
          <p:cNvSpPr txBox="1"/>
          <p:nvPr/>
        </p:nvSpPr>
        <p:spPr>
          <a:xfrm>
            <a:off x="1174" y="7629"/>
            <a:ext cx="12189124" cy="369332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chemeClr val="bg2"/>
                </a:solidFill>
                <a:latin typeface="Times New Roman"/>
                <a:cs typeface="Times New Roman"/>
              </a:rPr>
              <a:t>Box plots: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422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A8964-51BB-A909-2EAF-11D8096C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26D43-6A70-277A-DE0D-C5CC0D71B4DE}"/>
              </a:ext>
            </a:extLst>
          </p:cNvPr>
          <p:cNvSpPr txBox="1"/>
          <p:nvPr/>
        </p:nvSpPr>
        <p:spPr>
          <a:xfrm>
            <a:off x="267420" y="224289"/>
            <a:ext cx="11671537" cy="6524863"/>
          </a:xfrm>
          <a:prstGeom prst="rect">
            <a:avLst/>
          </a:prstGeom>
          <a:solidFill>
            <a:srgbClr val="19D4BB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>
                <a:solidFill>
                  <a:schemeClr val="bg2"/>
                </a:solidFill>
              </a:rPr>
              <a:t>Insights from the boxplots: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Wingdings"/>
              <a:buChar char="§"/>
            </a:pPr>
            <a:endParaRPr lang="en-US" sz="2000" b="1" u="sng" dirty="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chemeClr val="bg2"/>
                </a:solidFill>
                <a:ea typeface="+mn-lt"/>
                <a:cs typeface="+mn-lt"/>
              </a:rPr>
              <a:t>Age: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 Median around 60 years.</a:t>
            </a:r>
            <a:endParaRPr lang="en-US" sz="24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Outliers present above 80 and below 40.</a:t>
            </a:r>
            <a:endParaRPr lang="en-US" sz="24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chemeClr val="bg2"/>
                </a:solidFill>
                <a:ea typeface="+mn-lt"/>
                <a:cs typeface="+mn-lt"/>
              </a:rPr>
              <a:t>Systolic BP: 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Median around 100 mmHg.</a:t>
            </a:r>
            <a:endParaRPr lang="en-US" sz="24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Outliers above 120 and below 80.</a:t>
            </a:r>
            <a:endParaRPr lang="en-US" sz="2400" dirty="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chemeClr val="bg2"/>
                </a:solidFill>
                <a:ea typeface="+mn-lt"/>
                <a:cs typeface="+mn-lt"/>
              </a:rPr>
              <a:t>Diastolic BP: 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Median around 90 mmHg.</a:t>
            </a:r>
            <a:endParaRPr lang="en-US" sz="2400" dirty="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Outliers above 115 and below 65.</a:t>
            </a:r>
            <a:endParaRPr lang="en-US" sz="24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chemeClr val="bg2"/>
                </a:solidFill>
                <a:ea typeface="+mn-lt"/>
                <a:cs typeface="+mn-lt"/>
              </a:rPr>
              <a:t>Cholesterol: 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Median around 100.</a:t>
            </a:r>
            <a:endParaRPr lang="en-US" sz="2400">
              <a:solidFill>
                <a:schemeClr val="bg2"/>
              </a:solidFill>
            </a:endParaRP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Outliers present above 130 and below 75.</a:t>
            </a:r>
            <a:endParaRPr lang="en-US" sz="24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815471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3F807-8EE4-5BFE-DE5F-1FA8FB81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041B01-96D4-BB6D-456D-90C12CDEC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7" t="25000" r="7798" b="36134"/>
          <a:stretch>
            <a:fillRect/>
          </a:stretch>
        </p:blipFill>
        <p:spPr>
          <a:xfrm>
            <a:off x="1" y="1568806"/>
            <a:ext cx="12204248" cy="37280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07CA0A-3A1C-B737-E82C-E14229111960}"/>
              </a:ext>
            </a:extLst>
          </p:cNvPr>
          <p:cNvSpPr txBox="1"/>
          <p:nvPr/>
        </p:nvSpPr>
        <p:spPr>
          <a:xfrm>
            <a:off x="-958" y="-1277"/>
            <a:ext cx="12212765" cy="1200329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b="1">
              <a:solidFill>
                <a:schemeClr val="bg2"/>
              </a:solidFill>
            </a:endParaRPr>
          </a:p>
          <a:p>
            <a:r>
              <a:rPr lang="en-GB" b="1">
                <a:solidFill>
                  <a:schemeClr val="bg2"/>
                </a:solidFill>
              </a:rPr>
              <a:t>Handling Outliers to </a:t>
            </a:r>
            <a:r>
              <a:rPr lang="en-GB" b="1">
                <a:solidFill>
                  <a:schemeClr val="bg2"/>
                </a:solidFill>
                <a:ea typeface="+mn-lt"/>
                <a:cs typeface="+mn-lt"/>
              </a:rPr>
              <a:t>avoid extreme values distorting the results:</a:t>
            </a:r>
            <a:endParaRPr lang="en-GB">
              <a:solidFill>
                <a:schemeClr val="bg2"/>
              </a:solidFill>
            </a:endParaRPr>
          </a:p>
          <a:p>
            <a:endParaRPr lang="en-GB" b="1">
              <a:solidFill>
                <a:schemeClr val="bg2"/>
              </a:solidFill>
            </a:endParaRPr>
          </a:p>
          <a:p>
            <a:endParaRPr lang="en-GB" b="1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F6E30-6C59-83E7-D5C5-DD5247C57E1C}"/>
              </a:ext>
            </a:extLst>
          </p:cNvPr>
          <p:cNvSpPr txBox="1"/>
          <p:nvPr/>
        </p:nvSpPr>
        <p:spPr>
          <a:xfrm>
            <a:off x="152400" y="5587042"/>
            <a:ext cx="120453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US" sz="2800">
                <a:solidFill>
                  <a:srgbClr val="131523"/>
                </a:solidFill>
              </a:rPr>
              <a:t>Outliers were handled using whisker-based approach (IQR method).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95305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A619F-CA2D-B6D4-3B1D-1822981E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7E35B-EA83-7566-5F6C-7B30D6D83EA4}"/>
              </a:ext>
            </a:extLst>
          </p:cNvPr>
          <p:cNvSpPr txBox="1"/>
          <p:nvPr/>
        </p:nvSpPr>
        <p:spPr>
          <a:xfrm>
            <a:off x="-958" y="-1277"/>
            <a:ext cx="12212765" cy="1754326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>
                <a:solidFill>
                  <a:schemeClr val="bg2"/>
                </a:solidFill>
              </a:rPr>
              <a:t>Data Transformation:</a:t>
            </a:r>
            <a:r>
              <a:rPr lang="en-GB" b="1">
                <a:solidFill>
                  <a:schemeClr val="bg2"/>
                </a:solidFill>
                <a:ea typeface="+mn-lt"/>
                <a:cs typeface="+mn-lt"/>
              </a:rPr>
              <a:t> </a:t>
            </a:r>
            <a:endParaRPr lang="en-US"/>
          </a:p>
          <a:p>
            <a:endParaRPr lang="en-GB" b="1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n-GB">
                <a:solidFill>
                  <a:schemeClr val="bg2"/>
                </a:solidFill>
                <a:ea typeface="+mn-lt"/>
                <a:cs typeface="+mn-lt"/>
              </a:rPr>
              <a:t>Shape the data so models can understand it better.</a:t>
            </a:r>
            <a:endParaRPr lang="en-GB" b="1">
              <a:solidFill>
                <a:schemeClr val="bg2"/>
              </a:solidFill>
            </a:endParaRPr>
          </a:p>
          <a:p>
            <a:endParaRPr lang="en-GB">
              <a:solidFill>
                <a:schemeClr val="bg2"/>
              </a:solidFill>
            </a:endParaRPr>
          </a:p>
          <a:p>
            <a:endParaRPr lang="en-GB">
              <a:solidFill>
                <a:schemeClr val="bg2"/>
              </a:solidFill>
            </a:endParaRPr>
          </a:p>
          <a:p>
            <a:endParaRPr lang="en-GB">
              <a:solidFill>
                <a:schemeClr val="bg2"/>
              </a:solidFill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BC30D90-8ECF-A8F0-28F0-854C7DD0C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9" t="37395" r="44060" b="40336"/>
          <a:stretch>
            <a:fillRect/>
          </a:stretch>
        </p:blipFill>
        <p:spPr>
          <a:xfrm>
            <a:off x="14377" y="1482541"/>
            <a:ext cx="12196621" cy="349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6204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27107-23E1-0C72-AA84-24723AE1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006C24-F7B3-2C7B-3D5E-C0DED7B96CF2}"/>
              </a:ext>
            </a:extLst>
          </p:cNvPr>
          <p:cNvSpPr/>
          <p:nvPr/>
        </p:nvSpPr>
        <p:spPr>
          <a:xfrm>
            <a:off x="4694" y="-4401"/>
            <a:ext cx="12183196" cy="814227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chemeClr val="bg2"/>
                </a:solidFill>
                <a:latin typeface="Times New Roman"/>
                <a:cs typeface="Times New Roman"/>
              </a:rPr>
              <a:t>MODEL BUILDING: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48950-999B-2EB7-0D0E-98F26BD2B2EC}"/>
              </a:ext>
            </a:extLst>
          </p:cNvPr>
          <p:cNvSpPr txBox="1"/>
          <p:nvPr/>
        </p:nvSpPr>
        <p:spPr>
          <a:xfrm>
            <a:off x="8628" y="799382"/>
            <a:ext cx="12189122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2"/>
                </a:solidFill>
              </a:rPr>
              <a:t>Split the data into </a:t>
            </a:r>
            <a:r>
              <a:rPr lang="en-US" sz="2000" b="1">
                <a:solidFill>
                  <a:schemeClr val="bg2"/>
                </a:solidFill>
              </a:rPr>
              <a:t>80% training</a:t>
            </a:r>
            <a:r>
              <a:rPr lang="en-US" sz="2000">
                <a:solidFill>
                  <a:schemeClr val="bg2"/>
                </a:solidFill>
              </a:rPr>
              <a:t> and </a:t>
            </a:r>
            <a:r>
              <a:rPr lang="en-US" sz="2000" b="1">
                <a:solidFill>
                  <a:schemeClr val="bg2"/>
                </a:solidFill>
              </a:rPr>
              <a:t>20% testing</a:t>
            </a:r>
            <a:r>
              <a:rPr lang="en-US" sz="2000">
                <a:solidFill>
                  <a:schemeClr val="bg2"/>
                </a:solidFill>
              </a:rPr>
              <a:t> using </a:t>
            </a:r>
            <a:r>
              <a:rPr lang="en-US" sz="2000" err="1">
                <a:solidFill>
                  <a:schemeClr val="bg2"/>
                </a:solidFill>
              </a:rPr>
              <a:t>train_test_split</a:t>
            </a:r>
            <a:r>
              <a:rPr lang="en-US" sz="2000">
                <a:solidFill>
                  <a:schemeClr val="bg2"/>
                </a:solidFill>
              </a:rPr>
              <a:t>.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2"/>
                </a:solidFill>
              </a:rPr>
              <a:t>Used </a:t>
            </a:r>
            <a:r>
              <a:rPr lang="en-US" sz="2000" err="1">
                <a:solidFill>
                  <a:schemeClr val="bg2"/>
                </a:solidFill>
              </a:rPr>
              <a:t>random_state</a:t>
            </a:r>
            <a:r>
              <a:rPr lang="en-US" sz="2000">
                <a:solidFill>
                  <a:schemeClr val="bg2"/>
                </a:solidFill>
              </a:rPr>
              <a:t>=42 to ensure reproducible results.</a:t>
            </a:r>
            <a:endParaRPr lang="en-US">
              <a:solidFill>
                <a:schemeClr val="bg2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2"/>
                </a:solidFill>
                <a:ea typeface="+mn-lt"/>
                <a:cs typeface="+mn-lt"/>
              </a:rPr>
              <a:t>We implemented and evaluated </a:t>
            </a:r>
            <a:r>
              <a:rPr lang="en-US" sz="2000" b="1">
                <a:solidFill>
                  <a:schemeClr val="bg2"/>
                </a:solidFill>
                <a:ea typeface="+mn-lt"/>
                <a:cs typeface="+mn-lt"/>
              </a:rPr>
              <a:t>six</a:t>
            </a:r>
            <a:r>
              <a:rPr lang="en-US" sz="2000">
                <a:solidFill>
                  <a:schemeClr val="bg2"/>
                </a:solidFill>
                <a:ea typeface="+mn-lt"/>
                <a:cs typeface="+mn-lt"/>
              </a:rPr>
              <a:t> machine learning models: 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solidFill>
                  <a:schemeClr val="bg2"/>
                </a:solidFill>
                <a:ea typeface="+mn-lt"/>
                <a:cs typeface="+mn-lt"/>
              </a:rPr>
              <a:t>Logistic Regression, 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solidFill>
                  <a:schemeClr val="bg2"/>
                </a:solidFill>
                <a:ea typeface="+mn-lt"/>
                <a:cs typeface="+mn-lt"/>
              </a:rPr>
              <a:t>Decision Tree, 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solidFill>
                  <a:schemeClr val="bg2"/>
                </a:solidFill>
                <a:ea typeface="+mn-lt"/>
                <a:cs typeface="+mn-lt"/>
              </a:rPr>
              <a:t>AdaBoost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solidFill>
                  <a:schemeClr val="bg2"/>
                </a:solidFill>
                <a:ea typeface="+mn-lt"/>
                <a:cs typeface="+mn-lt"/>
              </a:rPr>
              <a:t>Support Vector Machine (SVM),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solidFill>
                  <a:schemeClr val="bg2"/>
                </a:solidFill>
                <a:ea typeface="+mn-lt"/>
                <a:cs typeface="+mn-lt"/>
              </a:rPr>
              <a:t> K-Nearest Neighbors (KNN)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solidFill>
                  <a:schemeClr val="bg2"/>
                </a:solidFill>
                <a:ea typeface="+mn-lt"/>
                <a:cs typeface="+mn-lt"/>
              </a:rPr>
              <a:t> Naive Bayes</a:t>
            </a:r>
            <a:endParaRPr lang="en-US" sz="2000" b="1">
              <a:solidFill>
                <a:schemeClr val="bg2"/>
              </a:solidFill>
            </a:endParaRPr>
          </a:p>
          <a:p>
            <a:endParaRPr lang="en-US" sz="2000" b="1">
              <a:solidFill>
                <a:schemeClr val="bg2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2"/>
                </a:solidFill>
                <a:ea typeface="+mn-lt"/>
                <a:cs typeface="+mn-lt"/>
              </a:rPr>
              <a:t>Training and testing accuracies were compared to assess performance and detect overfitting or underfitting.</a:t>
            </a:r>
            <a:endParaRPr lang="en-US" sz="2000">
              <a:solidFill>
                <a:schemeClr val="bg2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2"/>
                </a:solidFill>
                <a:ea typeface="+mn-lt"/>
                <a:cs typeface="+mn-lt"/>
              </a:rPr>
              <a:t>Logistic Regression, AdaBoost, and SVM achieved balanced performance between training and testing.</a:t>
            </a:r>
            <a:endParaRPr lang="en-US" sz="2000">
              <a:solidFill>
                <a:schemeClr val="bg2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2"/>
                </a:solidFill>
                <a:ea typeface="+mn-lt"/>
                <a:cs typeface="+mn-lt"/>
              </a:rPr>
              <a:t>Decision Tree showed the highest training accuracy (0.79) but lower test accuracy (0.72), indicating possible overfitting.</a:t>
            </a:r>
            <a:endParaRPr lang="en-US" sz="2000">
              <a:solidFill>
                <a:schemeClr val="bg2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2"/>
                </a:solidFill>
                <a:ea typeface="+mn-lt"/>
                <a:cs typeface="+mn-lt"/>
              </a:rPr>
              <a:t>SVM achieved the highest test accuracy (0.75), making it the best-performing model for this dataset.</a:t>
            </a:r>
            <a:endParaRPr lang="en-US" sz="2000">
              <a:solidFill>
                <a:schemeClr val="bg2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1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A03B4-7665-2D0B-26DC-DF7D89C3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B6558-B542-F10B-4ED2-5A97D814D4E3}"/>
              </a:ext>
            </a:extLst>
          </p:cNvPr>
          <p:cNvSpPr/>
          <p:nvPr/>
        </p:nvSpPr>
        <p:spPr>
          <a:xfrm>
            <a:off x="4694" y="-4401"/>
            <a:ext cx="12183196" cy="986755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chemeClr val="bg2"/>
                </a:solidFill>
                <a:latin typeface="Times New Roman"/>
                <a:cs typeface="Times New Roman"/>
              </a:rPr>
              <a:t>MODEL BUILDING: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1FB3DD-3E50-2C9A-8539-F8400EC49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988993"/>
              </p:ext>
            </p:extLst>
          </p:nvPr>
        </p:nvGraphicFramePr>
        <p:xfrm>
          <a:off x="1940943" y="1293962"/>
          <a:ext cx="7710670" cy="5082588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667546">
                  <a:extLst>
                    <a:ext uri="{9D8B030D-6E8A-4147-A177-3AD203B41FA5}">
                      <a16:colId xmlns:a16="http://schemas.microsoft.com/office/drawing/2014/main" val="1385904925"/>
                    </a:ext>
                  </a:extLst>
                </a:gridCol>
                <a:gridCol w="2521562">
                  <a:extLst>
                    <a:ext uri="{9D8B030D-6E8A-4147-A177-3AD203B41FA5}">
                      <a16:colId xmlns:a16="http://schemas.microsoft.com/office/drawing/2014/main" val="3623874328"/>
                    </a:ext>
                  </a:extLst>
                </a:gridCol>
                <a:gridCol w="2521562">
                  <a:extLst>
                    <a:ext uri="{9D8B030D-6E8A-4147-A177-3AD203B41FA5}">
                      <a16:colId xmlns:a16="http://schemas.microsoft.com/office/drawing/2014/main" val="3320081150"/>
                    </a:ext>
                  </a:extLst>
                </a:gridCol>
              </a:tblGrid>
              <a:tr h="726084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Models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Test Accuracy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Train Accuracy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705305"/>
                  </a:ext>
                </a:extLst>
              </a:tr>
              <a:tr h="726084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Logistic Regression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FFFFFF"/>
                          </a:solidFill>
                          <a:latin typeface="Arial Nova Cond"/>
                        </a:rPr>
                        <a:t>0.74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82855"/>
                  </a:ext>
                </a:extLst>
              </a:tr>
              <a:tr h="726084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Decision Tree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0.67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1.0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654555"/>
                  </a:ext>
                </a:extLst>
              </a:tr>
              <a:tr h="726084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KNN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0.76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981519"/>
                  </a:ext>
                </a:extLst>
              </a:tr>
              <a:tr h="726084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Naïve Bayes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301812"/>
                  </a:ext>
                </a:extLst>
              </a:tr>
              <a:tr h="726084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AdaBoost</a:t>
                      </a:r>
                      <a:endParaRPr lang="en-GB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0.75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62760"/>
                  </a:ext>
                </a:extLst>
              </a:tr>
              <a:tr h="726084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SVM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0.75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273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8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76712-C01F-F279-D8EB-0DA119E1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39BDF-80C8-C2F1-B2D7-A0FA6C65E511}"/>
              </a:ext>
            </a:extLst>
          </p:cNvPr>
          <p:cNvSpPr txBox="1"/>
          <p:nvPr/>
        </p:nvSpPr>
        <p:spPr>
          <a:xfrm>
            <a:off x="-5750" y="209911"/>
            <a:ext cx="12203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FBF2E9-546E-6914-5A25-69AA224411D0}"/>
              </a:ext>
            </a:extLst>
          </p:cNvPr>
          <p:cNvSpPr txBox="1"/>
          <p:nvPr/>
        </p:nvSpPr>
        <p:spPr>
          <a:xfrm>
            <a:off x="-3520" y="5281"/>
            <a:ext cx="12198747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>
                <a:solidFill>
                  <a:schemeClr val="bg1"/>
                </a:solidFill>
                <a:latin typeface="Times New Roman"/>
                <a:cs typeface="Times New Roman"/>
              </a:rPr>
              <a:t>Deployment:</a:t>
            </a:r>
            <a:endParaRPr lang="en-US" sz="3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D39EB1-4B40-F494-B4A1-3292C6E2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85" t="20444" r="20922" b="20168"/>
          <a:stretch>
            <a:fillRect/>
          </a:stretch>
        </p:blipFill>
        <p:spPr>
          <a:xfrm>
            <a:off x="1089692" y="1285761"/>
            <a:ext cx="10015473" cy="461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399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59B0E-5372-8196-D9EC-1889D0DC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D79621-7D71-5F03-36B0-4091697EBA95}"/>
              </a:ext>
            </a:extLst>
          </p:cNvPr>
          <p:cNvSpPr txBox="1"/>
          <p:nvPr/>
        </p:nvSpPr>
        <p:spPr>
          <a:xfrm>
            <a:off x="-5750" y="209911"/>
            <a:ext cx="12203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33262A-2B37-5FE3-EC78-A31867206E3A}"/>
              </a:ext>
            </a:extLst>
          </p:cNvPr>
          <p:cNvSpPr txBox="1"/>
          <p:nvPr/>
        </p:nvSpPr>
        <p:spPr>
          <a:xfrm>
            <a:off x="-3520" y="5281"/>
            <a:ext cx="12198747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>
                <a:solidFill>
                  <a:schemeClr val="bg1"/>
                </a:solidFill>
                <a:latin typeface="Times New Roman"/>
                <a:cs typeface="Times New Roman"/>
              </a:rPr>
              <a:t>Deployment:</a:t>
            </a:r>
            <a:endParaRPr lang="en-US" sz="3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F9F745-5D0D-0354-0891-5AD3A680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24" t="19958" r="31311" b="18697"/>
          <a:stretch>
            <a:fillRect/>
          </a:stretch>
        </p:blipFill>
        <p:spPr>
          <a:xfrm>
            <a:off x="3332559" y="806805"/>
            <a:ext cx="5540333" cy="545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0065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6A5E2-C957-66E2-4B67-13005216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E9164A-E3AB-1175-F11F-8DCC90FFB6F3}"/>
              </a:ext>
            </a:extLst>
          </p:cNvPr>
          <p:cNvSpPr txBox="1"/>
          <p:nvPr/>
        </p:nvSpPr>
        <p:spPr>
          <a:xfrm>
            <a:off x="-5750" y="209911"/>
            <a:ext cx="12203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34DF7A-3689-DFE3-8BCE-60817E659800}"/>
              </a:ext>
            </a:extLst>
          </p:cNvPr>
          <p:cNvSpPr txBox="1"/>
          <p:nvPr/>
        </p:nvSpPr>
        <p:spPr>
          <a:xfrm>
            <a:off x="-3520" y="5281"/>
            <a:ext cx="12198747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>
                <a:solidFill>
                  <a:schemeClr val="bg1"/>
                </a:solidFill>
                <a:latin typeface="Times New Roman"/>
                <a:cs typeface="Times New Roman"/>
              </a:rPr>
              <a:t>Deployment:</a:t>
            </a:r>
            <a:endParaRPr lang="en-US" sz="3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11075F-EC7D-2F1C-749E-24EA743FA4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61" t="20453" r="20332" b="18697"/>
          <a:stretch>
            <a:fillRect/>
          </a:stretch>
        </p:blipFill>
        <p:spPr>
          <a:xfrm>
            <a:off x="1391615" y="1070756"/>
            <a:ext cx="8980886" cy="470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1495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F48F4-7D3C-A2C2-87B6-06001BCF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B911B1-5B02-C4FC-7C59-C995910E090C}"/>
              </a:ext>
            </a:extLst>
          </p:cNvPr>
          <p:cNvSpPr txBox="1"/>
          <p:nvPr/>
        </p:nvSpPr>
        <p:spPr>
          <a:xfrm>
            <a:off x="-5750" y="209911"/>
            <a:ext cx="12203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C34089-D108-FCA8-F72B-449306FAB3DF}"/>
              </a:ext>
            </a:extLst>
          </p:cNvPr>
          <p:cNvSpPr txBox="1"/>
          <p:nvPr/>
        </p:nvSpPr>
        <p:spPr>
          <a:xfrm>
            <a:off x="483081" y="411194"/>
            <a:ext cx="11254592" cy="63094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 u="sng">
                <a:solidFill>
                  <a:schemeClr val="bg2"/>
                </a:solidFill>
                <a:latin typeface="Times New Roman"/>
                <a:cs typeface="Times New Roman"/>
              </a:rPr>
              <a:t>Limitation and Future Scope:</a:t>
            </a:r>
            <a:endParaRPr lang="en-US" sz="3200" i="1" u="sng">
              <a:solidFill>
                <a:schemeClr val="bg2"/>
              </a:solidFill>
              <a:latin typeface="Times New Roman"/>
              <a:cs typeface="Times New Roman"/>
            </a:endParaRPr>
          </a:p>
          <a:p>
            <a:endParaRPr lang="en-US" sz="2800" b="1" u="sng">
              <a:solidFill>
                <a:schemeClr val="bg2"/>
              </a:solidFill>
              <a:latin typeface="Times New Roman"/>
              <a:cs typeface="Times New Roman"/>
            </a:endParaRPr>
          </a:p>
          <a:p>
            <a:r>
              <a:rPr lang="en-US" sz="2800" b="1" u="sng">
                <a:solidFill>
                  <a:schemeClr val="bg2"/>
                </a:solidFill>
                <a:ea typeface="+mn-lt"/>
                <a:cs typeface="+mn-lt"/>
              </a:rPr>
              <a:t>Limitations:</a:t>
            </a:r>
            <a:endParaRPr lang="en-US" u="sng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The model uses only four features, which limits prediction accuracy(75%).</a:t>
            </a:r>
            <a:endParaRPr lang="en-US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Important clinical data such as HbA1c levels, duration of diabetes, and genetic information were not included.</a:t>
            </a:r>
            <a:endParaRPr lang="en-US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The model’s performance may vary across different populations due to demographic differences.</a:t>
            </a:r>
            <a:endParaRPr lang="en-US" sz="2400">
              <a:solidFill>
                <a:schemeClr val="bg2"/>
              </a:solidFill>
            </a:endParaRPr>
          </a:p>
          <a:p>
            <a:r>
              <a:rPr lang="en-US" sz="2400" b="1" u="sng">
                <a:solidFill>
                  <a:schemeClr val="bg2"/>
                </a:solidFill>
                <a:ea typeface="+mn-lt"/>
                <a:cs typeface="+mn-lt"/>
              </a:rPr>
              <a:t>Future Scope:</a:t>
            </a:r>
            <a:endParaRPr lang="en-US" sz="2400" u="sng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Adding more clinical and lifestyle features can improve the accuracy of predictions.</a:t>
            </a:r>
            <a:endParaRPr lang="en-US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Training on larger and more diverse datasets can enhance model generalization.</a:t>
            </a:r>
            <a:endParaRPr lang="en-US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The model can be integrated into hospital screening systems for early detection of diabetic retinopathy.</a:t>
            </a:r>
            <a:endParaRPr lang="en-US" sz="240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2"/>
                </a:solidFill>
                <a:ea typeface="+mn-lt"/>
                <a:cs typeface="+mn-lt"/>
              </a:rPr>
              <a:t>User-friendly tools can be developed to enable screenings in remote and rural areas.</a:t>
            </a:r>
            <a:endParaRPr lang="en-US" sz="2400">
              <a:solidFill>
                <a:schemeClr val="bg2"/>
              </a:solidFill>
            </a:endParaRPr>
          </a:p>
          <a:p>
            <a:endParaRPr lang="en-US" sz="2400">
              <a:solidFill>
                <a:schemeClr val="bg2"/>
              </a:solidFill>
            </a:endParaRPr>
          </a:p>
          <a:p>
            <a:endParaRPr lang="en-US" sz="2800" b="1">
              <a:solidFill>
                <a:schemeClr val="bg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140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886CB-8B06-1DF1-00F1-7E0ADD44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8C9930-1777-2A81-A5A7-E938E91DF838}"/>
              </a:ext>
            </a:extLst>
          </p:cNvPr>
          <p:cNvSpPr txBox="1"/>
          <p:nvPr/>
        </p:nvSpPr>
        <p:spPr>
          <a:xfrm>
            <a:off x="-5750" y="209911"/>
            <a:ext cx="12203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9D2B8E-FBF7-F291-31E3-A91BED0B177D}"/>
              </a:ext>
            </a:extLst>
          </p:cNvPr>
          <p:cNvSpPr txBox="1"/>
          <p:nvPr/>
        </p:nvSpPr>
        <p:spPr>
          <a:xfrm>
            <a:off x="483081" y="411194"/>
            <a:ext cx="11254592" cy="57554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 u="sng">
                <a:solidFill>
                  <a:schemeClr val="bg2"/>
                </a:solidFill>
                <a:latin typeface="Times New Roman"/>
                <a:cs typeface="Times New Roman"/>
              </a:rPr>
              <a:t>Conclusion:</a:t>
            </a:r>
            <a:endParaRPr lang="en-US" sz="3200" i="1" u="sng">
              <a:solidFill>
                <a:schemeClr val="bg2"/>
              </a:solidFill>
              <a:latin typeface="Times New Roman"/>
              <a:cs typeface="Times New Roman"/>
            </a:endParaRPr>
          </a:p>
          <a:p>
            <a:endParaRPr lang="en-US" sz="2800" b="1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Successfully completed </a:t>
            </a: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Exploratory Data Analysis (EDA)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Model Building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, and </a:t>
            </a: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Model Deployment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2"/>
              </a:solidFill>
            </a:endParaRPr>
          </a:p>
          <a:p>
            <a:pPr marL="285750" indent="-285750">
              <a:buFont typeface="Wingdings"/>
              <a:buChar char="ü"/>
            </a:pP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Conducted performance comparison across multiple machine learning models.</a:t>
            </a:r>
            <a:endParaRPr lang="en-US"/>
          </a:p>
          <a:p>
            <a:pPr marL="285750" indent="-285750">
              <a:buFont typeface="Wingdings"/>
              <a:buChar char="ü"/>
            </a:pP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Support Vector Machine (SVM)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 achieved the </a:t>
            </a: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best performance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 among all tested models.</a:t>
            </a:r>
            <a:endParaRPr lang="en-US">
              <a:solidFill>
                <a:schemeClr val="bg2"/>
              </a:solidFill>
            </a:endParaRPr>
          </a:p>
          <a:p>
            <a:pPr marL="285750" indent="-285750">
              <a:buFont typeface="Wingdings"/>
              <a:buChar char="ü"/>
            </a:pP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The final model is capable of </a:t>
            </a: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accurately predicting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 whether a patient has </a:t>
            </a: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Diabetic Retinopathy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 or not.</a:t>
            </a:r>
            <a:endParaRPr lang="en-US">
              <a:solidFill>
                <a:schemeClr val="bg2"/>
              </a:solidFill>
            </a:endParaRPr>
          </a:p>
          <a:p>
            <a:pPr marL="285750" indent="-285750">
              <a:buFont typeface="Wingdings"/>
              <a:buChar char="ü"/>
            </a:pP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This solution can assist in </a:t>
            </a:r>
            <a:r>
              <a:rPr lang="en-US" sz="2800" b="1">
                <a:solidFill>
                  <a:schemeClr val="bg2"/>
                </a:solidFill>
                <a:ea typeface="+mn-lt"/>
                <a:cs typeface="+mn-lt"/>
              </a:rPr>
              <a:t>early diagnosis</a:t>
            </a: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, enabling timely medical intervention and improved patient outcomes.</a:t>
            </a:r>
            <a:endParaRPr lang="en-US">
              <a:solidFill>
                <a:schemeClr val="bg2"/>
              </a:solidFill>
            </a:endParaRPr>
          </a:p>
          <a:p>
            <a:endParaRPr lang="en-US" sz="2800" b="1">
              <a:solidFill>
                <a:schemeClr val="bg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90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3CFF1-4E84-3673-66E7-A67EC38F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CD3246-80D8-0A4A-BF8B-4B2C96FDB2D5}"/>
              </a:ext>
            </a:extLst>
          </p:cNvPr>
          <p:cNvSpPr txBox="1"/>
          <p:nvPr/>
        </p:nvSpPr>
        <p:spPr>
          <a:xfrm>
            <a:off x="-5750" y="209911"/>
            <a:ext cx="12203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EEC285-A489-83B9-6D42-2619373D8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44" t="43062" r="42584" b="20004"/>
          <a:stretch>
            <a:fillRect/>
          </a:stretch>
        </p:blipFill>
        <p:spPr>
          <a:xfrm>
            <a:off x="-754" y="1673"/>
            <a:ext cx="12187742" cy="6837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41714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Impac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TornVTI</vt:lpstr>
      <vt:lpstr>Diabetic Retinopathy Prediction In Patients </vt:lpstr>
      <vt:lpstr>Objective:</vt:lpstr>
      <vt:lpstr>Problem Statement:</vt:lpstr>
      <vt:lpstr> Diabetic Retinopathy :</vt:lpstr>
      <vt:lpstr>PowerPoint Presentation</vt:lpstr>
      <vt:lpstr>Dataset Details:</vt:lpstr>
      <vt:lpstr>Dataset Details:</vt:lpstr>
      <vt:lpstr>PowerPoint Presentation</vt:lpstr>
      <vt:lpstr>PowerPoint Presentation</vt:lpstr>
      <vt:lpstr>PowerPoint Presentation</vt:lpstr>
      <vt:lpstr>4</vt:lpstr>
      <vt:lpstr>4</vt:lpstr>
      <vt:lpstr>4</vt:lpstr>
      <vt:lpstr>4</vt:lpstr>
      <vt:lpstr>4</vt:lpstr>
      <vt:lpstr>4</vt:lpstr>
      <vt:lpstr>4</vt:lpstr>
      <vt:lpstr>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Retinopathy Prediction In Patients </dc:title>
  <dc:creator/>
  <cp:lastModifiedBy>MADDURI SPANDHANA</cp:lastModifiedBy>
  <cp:revision>2</cp:revision>
  <dcterms:created xsi:type="dcterms:W3CDTF">2025-08-12T12:48:27Z</dcterms:created>
  <dcterms:modified xsi:type="dcterms:W3CDTF">2025-08-19T04:32:39Z</dcterms:modified>
</cp:coreProperties>
</file>